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0034B49-D7A4-46F5-8D7C-A9EA0AFAB656}">
  <a:tblStyle styleId="{70034B49-D7A4-46F5-8D7C-A9EA0AFAB65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56a34916b7_0_1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56a34916b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046777aaa_0_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f046777aa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046777aaa_0_1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046777aa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046777aaa_0_2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f046777aa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046777aaa_0_2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046777aa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068e7cee4_0_5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f068e7cee4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068e7cee4_0_3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068e7cee4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068e7cee4_0_4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f068e7cee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068e7cee4_0_4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f068e7cee4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068e7cee4_0_5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f068e7cee4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068e7cee4_0_8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f068e7cee4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068e7cee4_0_9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f068e7cee4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068e7cee4_0_9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f068e7cee4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068e7cee4_0_10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f068e7cee4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068e7cee4_0_11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f068e7cee4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f068e7cee4_0_12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f068e7cee4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f075d9691b_0_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f075d9691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075d9691b_0_1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f075d9691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f075d9691b_0_4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f075d9691b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f075d9691b_0_5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f075d9691b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f075d9691b_0_7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f075d9691b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075d9691b_0_8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f075d9691b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f075d9691b_0_9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f075d9691b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f075d9691b_0_12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f075d9691b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f075d9691b_0_13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f075d9691b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f075d9691b_0_14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f075d9691b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f075d9691b_0_14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f075d9691b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f075d9691b_0_16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f075d9691b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f075d9691b_0_17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f075d9691b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f075d9691b_0_19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f075d9691b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f075d9691b_0_20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f075d9691b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f0a3f30f6e_0_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f0a3f30f6e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f0a3f30f6e_0_1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f0a3f30f6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f0a3f30f6e_0_4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f0a3f30f6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f0a3f30f6e_0_3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f0a3f30f6e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f0a3f30f6e_0_57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f0a3f30f6e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f0a3f30f6e_0_6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f0a3f30f6e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f0a3f30f6e_0_7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f0a3f30f6e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f0a3f30f6e_0_10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f0a3f30f6e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f0a3f30f6e_0_11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f0a3f30f6e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52108f272f_3_7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52108f272f_3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52108f272f_3_6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52108f272f_3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f0a3f30f6e_0_12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f0a3f30f6e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f0a3f30f6e_0_12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f0a3f30f6e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311700" y="805422"/>
            <a:ext cx="8520600" cy="159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5200"/>
              <a:buFont typeface="Calibri"/>
              <a:buNone/>
              <a:defRPr sz="5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Font typeface="Calibri"/>
              <a:buNone/>
              <a:defRPr sz="5200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11688" y="305078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Calibri"/>
              <a:buNone/>
              <a:defRPr sz="28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 sz="2800">
                <a:latin typeface="Calibri"/>
                <a:ea typeface="Calibri"/>
                <a:cs typeface="Calibri"/>
                <a:sym typeface="Calibri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 sz="2800">
                <a:latin typeface="Calibri"/>
                <a:ea typeface="Calibri"/>
                <a:cs typeface="Calibri"/>
                <a:sym typeface="Calibri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 sz="2800">
                <a:latin typeface="Calibri"/>
                <a:ea typeface="Calibri"/>
                <a:cs typeface="Calibri"/>
                <a:sym typeface="Calibri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 sz="2800">
                <a:latin typeface="Calibri"/>
                <a:ea typeface="Calibri"/>
                <a:cs typeface="Calibri"/>
                <a:sym typeface="Calibri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 sz="2800">
                <a:latin typeface="Calibri"/>
                <a:ea typeface="Calibri"/>
                <a:cs typeface="Calibri"/>
                <a:sym typeface="Calibri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 sz="2800">
                <a:latin typeface="Calibri"/>
                <a:ea typeface="Calibri"/>
                <a:cs typeface="Calibri"/>
                <a:sym typeface="Calibri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 sz="2800">
                <a:latin typeface="Calibri"/>
                <a:ea typeface="Calibri"/>
                <a:cs typeface="Calibri"/>
                <a:sym typeface="Calibri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libri"/>
              <a:buNone/>
              <a:defRPr sz="2800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326524" y="4107675"/>
            <a:ext cx="2490951" cy="1311975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 txBox="1"/>
          <p:nvPr/>
        </p:nvSpPr>
        <p:spPr>
          <a:xfrm>
            <a:off x="2271138" y="5419650"/>
            <a:ext cx="4601700" cy="8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latin typeface="Calibri"/>
                <a:ea typeface="Calibri"/>
                <a:cs typeface="Calibri"/>
                <a:sym typeface="Calibri"/>
              </a:rPr>
              <a:t>Departamento de Ciência da Computação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latin typeface="Calibri"/>
                <a:ea typeface="Calibri"/>
                <a:cs typeface="Calibri"/>
                <a:sym typeface="Calibri"/>
              </a:rPr>
              <a:t>Universidade de Brasília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3600"/>
              <a:buFont typeface="Calibri"/>
              <a:buNone/>
              <a:defRPr sz="36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63700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lvl="2" rtl="0"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lvl="3" rtl="0"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lvl="4" rtl="0"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lvl="5" rtl="0">
              <a:buNone/>
              <a:defRPr>
                <a:latin typeface="Calibri"/>
                <a:ea typeface="Calibri"/>
                <a:cs typeface="Calibri"/>
                <a:sym typeface="Calibri"/>
              </a:defRPr>
            </a:lvl6pPr>
            <a:lvl7pPr lvl="6" rtl="0">
              <a:buNone/>
              <a:defRPr>
                <a:latin typeface="Calibri"/>
                <a:ea typeface="Calibri"/>
                <a:cs typeface="Calibri"/>
                <a:sym typeface="Calibri"/>
              </a:defRPr>
            </a:lvl7pPr>
            <a:lvl8pPr lvl="7" rtl="0">
              <a:buNone/>
              <a:defRPr>
                <a:latin typeface="Calibri"/>
                <a:ea typeface="Calibri"/>
                <a:cs typeface="Calibri"/>
                <a:sym typeface="Calibri"/>
              </a:defRPr>
            </a:lvl8pPr>
            <a:lvl9pPr lvl="8" rtl="0">
              <a:buNone/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rgbClr val="003366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800"/>
              <a:buFont typeface="Calibri"/>
              <a:buNone/>
              <a:defRPr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Calibri"/>
              <a:buChar char="○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Calibri"/>
              <a:buChar char="■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Calibri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Calibri"/>
              <a:buChar char="○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Calibri"/>
              <a:buChar char="■"/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Calibri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Calibri"/>
              <a:buChar char="○"/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000"/>
              <a:buFont typeface="Calibri"/>
              <a:buChar char="■"/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63700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rgbClr val="003366"/>
              </a:solidFill>
            </a:endParaRPr>
          </a:p>
        </p:txBody>
      </p:sp>
      <p:pic>
        <p:nvPicPr>
          <p:cNvPr id="23" name="Google Shape;23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0475" y="6611525"/>
            <a:ext cx="313926" cy="16535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4"/>
          <p:cNvSpPr txBox="1"/>
          <p:nvPr/>
        </p:nvSpPr>
        <p:spPr>
          <a:xfrm>
            <a:off x="398200" y="6542850"/>
            <a:ext cx="4785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003366"/>
                </a:solidFill>
              </a:rPr>
              <a:t>CIC</a:t>
            </a:r>
            <a:endParaRPr b="1" sz="1000">
              <a:solidFill>
                <a:srgbClr val="003366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800"/>
              <a:buFont typeface="Calibri"/>
              <a:buNone/>
              <a:defRPr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  <a:defRPr sz="1400">
                <a:latin typeface="Calibri"/>
                <a:ea typeface="Calibri"/>
                <a:cs typeface="Calibri"/>
                <a:sym typeface="Calibri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Calibri"/>
              <a:buChar char="○"/>
              <a:defRPr sz="1200"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Calibri"/>
              <a:buChar char="■"/>
              <a:defRPr sz="1200"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Calibri"/>
              <a:buChar char="●"/>
              <a:defRPr sz="1200"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Calibri"/>
              <a:buChar char="○"/>
              <a:defRPr sz="1200">
                <a:latin typeface="Calibri"/>
                <a:ea typeface="Calibri"/>
                <a:cs typeface="Calibri"/>
                <a:sym typeface="Calibri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Calibri"/>
              <a:buChar char="■"/>
              <a:defRPr sz="1200">
                <a:latin typeface="Calibri"/>
                <a:ea typeface="Calibri"/>
                <a:cs typeface="Calibri"/>
                <a:sym typeface="Calibri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Calibri"/>
              <a:buChar char="●"/>
              <a:defRPr sz="1200">
                <a:latin typeface="Calibri"/>
                <a:ea typeface="Calibri"/>
                <a:cs typeface="Calibri"/>
                <a:sym typeface="Calibri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Calibri"/>
              <a:buChar char="○"/>
              <a:defRPr sz="1200">
                <a:latin typeface="Calibri"/>
                <a:ea typeface="Calibri"/>
                <a:cs typeface="Calibri"/>
                <a:sym typeface="Calibri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Calibri"/>
              <a:buChar char="■"/>
              <a:defRPr sz="1200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Calibri"/>
              <a:buChar char="●"/>
              <a:defRPr sz="1400">
                <a:latin typeface="Calibri"/>
                <a:ea typeface="Calibri"/>
                <a:cs typeface="Calibri"/>
                <a:sym typeface="Calibri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Calibri"/>
              <a:buChar char="○"/>
              <a:defRPr sz="1200"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Calibri"/>
              <a:buChar char="■"/>
              <a:defRPr sz="1200"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Calibri"/>
              <a:buChar char="●"/>
              <a:defRPr sz="1200"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Calibri"/>
              <a:buChar char="○"/>
              <a:defRPr sz="1200">
                <a:latin typeface="Calibri"/>
                <a:ea typeface="Calibri"/>
                <a:cs typeface="Calibri"/>
                <a:sym typeface="Calibri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Calibri"/>
              <a:buChar char="■"/>
              <a:defRPr sz="1200">
                <a:latin typeface="Calibri"/>
                <a:ea typeface="Calibri"/>
                <a:cs typeface="Calibri"/>
                <a:sym typeface="Calibri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Calibri"/>
              <a:buChar char="●"/>
              <a:defRPr sz="1200">
                <a:latin typeface="Calibri"/>
                <a:ea typeface="Calibri"/>
                <a:cs typeface="Calibri"/>
                <a:sym typeface="Calibri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Calibri"/>
              <a:buChar char="○"/>
              <a:defRPr sz="1200">
                <a:latin typeface="Calibri"/>
                <a:ea typeface="Calibri"/>
                <a:cs typeface="Calibri"/>
                <a:sym typeface="Calibri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Calibri"/>
              <a:buChar char="■"/>
              <a:defRPr sz="1200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63700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rgbClr val="003366"/>
              </a:solidFill>
            </a:endParaRPr>
          </a:p>
        </p:txBody>
      </p:sp>
      <p:pic>
        <p:nvPicPr>
          <p:cNvPr id="30" name="Google Shape;30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0475" y="6611525"/>
            <a:ext cx="313926" cy="16535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5"/>
          <p:cNvSpPr txBox="1"/>
          <p:nvPr/>
        </p:nvSpPr>
        <p:spPr>
          <a:xfrm>
            <a:off x="398200" y="6542850"/>
            <a:ext cx="4785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003366"/>
                </a:solidFill>
              </a:rPr>
              <a:t>CIC</a:t>
            </a:r>
            <a:endParaRPr b="1" sz="1000">
              <a:solidFill>
                <a:srgbClr val="003366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800"/>
              <a:buFont typeface="Calibri"/>
              <a:buNone/>
              <a:defRPr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72458" y="63700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rgbClr val="003366"/>
              </a:solidFill>
            </a:endParaRPr>
          </a:p>
        </p:txBody>
      </p:sp>
      <p:pic>
        <p:nvPicPr>
          <p:cNvPr id="35" name="Google Shape;35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0475" y="6611525"/>
            <a:ext cx="313926" cy="16535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6"/>
          <p:cNvSpPr txBox="1"/>
          <p:nvPr/>
        </p:nvSpPr>
        <p:spPr>
          <a:xfrm>
            <a:off x="398200" y="6542850"/>
            <a:ext cx="4785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003366"/>
                </a:solidFill>
              </a:rPr>
              <a:t>CIC</a:t>
            </a:r>
            <a:endParaRPr b="1" sz="1000">
              <a:solidFill>
                <a:srgbClr val="003366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Calibri"/>
              <a:buNone/>
              <a:defRPr sz="24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Calibri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Calibri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Calibri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Calibri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Calibri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Calibri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Calibri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Calibri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  <a:defRPr sz="1200">
                <a:latin typeface="Calibri"/>
                <a:ea typeface="Calibri"/>
                <a:cs typeface="Calibri"/>
                <a:sym typeface="Calibri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Calibri"/>
              <a:buChar char="○"/>
              <a:defRPr sz="1200"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Calibri"/>
              <a:buChar char="■"/>
              <a:defRPr sz="1200"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Calibri"/>
              <a:buChar char="●"/>
              <a:defRPr sz="1200"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Calibri"/>
              <a:buChar char="○"/>
              <a:defRPr sz="1200">
                <a:latin typeface="Calibri"/>
                <a:ea typeface="Calibri"/>
                <a:cs typeface="Calibri"/>
                <a:sym typeface="Calibri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Calibri"/>
              <a:buChar char="■"/>
              <a:defRPr sz="1200">
                <a:latin typeface="Calibri"/>
                <a:ea typeface="Calibri"/>
                <a:cs typeface="Calibri"/>
                <a:sym typeface="Calibri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Calibri"/>
              <a:buChar char="●"/>
              <a:defRPr sz="1200">
                <a:latin typeface="Calibri"/>
                <a:ea typeface="Calibri"/>
                <a:cs typeface="Calibri"/>
                <a:sym typeface="Calibri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Calibri"/>
              <a:buChar char="○"/>
              <a:defRPr sz="1200">
                <a:latin typeface="Calibri"/>
                <a:ea typeface="Calibri"/>
                <a:cs typeface="Calibri"/>
                <a:sym typeface="Calibri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Calibri"/>
              <a:buChar char="■"/>
              <a:defRPr sz="1200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63700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lvl="2" rtl="0"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lvl="3" rtl="0"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lvl="4" rtl="0"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lvl="5" rtl="0">
              <a:buNone/>
              <a:defRPr>
                <a:latin typeface="Calibri"/>
                <a:ea typeface="Calibri"/>
                <a:cs typeface="Calibri"/>
                <a:sym typeface="Calibri"/>
              </a:defRPr>
            </a:lvl6pPr>
            <a:lvl7pPr lvl="6" rtl="0">
              <a:buNone/>
              <a:defRPr>
                <a:latin typeface="Calibri"/>
                <a:ea typeface="Calibri"/>
                <a:cs typeface="Calibri"/>
                <a:sym typeface="Calibri"/>
              </a:defRPr>
            </a:lvl7pPr>
            <a:lvl8pPr lvl="7" rtl="0">
              <a:buNone/>
              <a:defRPr>
                <a:latin typeface="Calibri"/>
                <a:ea typeface="Calibri"/>
                <a:cs typeface="Calibri"/>
                <a:sym typeface="Calibri"/>
              </a:defRPr>
            </a:lvl8pPr>
            <a:lvl9pPr lvl="8" rtl="0">
              <a:buNone/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rgbClr val="003366"/>
              </a:solidFill>
            </a:endParaRPr>
          </a:p>
        </p:txBody>
      </p:sp>
      <p:pic>
        <p:nvPicPr>
          <p:cNvPr id="41" name="Google Shape;41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0475" y="6611525"/>
            <a:ext cx="313926" cy="16535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7"/>
          <p:cNvSpPr txBox="1"/>
          <p:nvPr/>
        </p:nvSpPr>
        <p:spPr>
          <a:xfrm>
            <a:off x="398200" y="6542850"/>
            <a:ext cx="4785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003366"/>
                </a:solidFill>
              </a:rPr>
              <a:t>CIC</a:t>
            </a:r>
            <a:endParaRPr b="1" sz="1000">
              <a:solidFill>
                <a:srgbClr val="003366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4800"/>
              <a:buFont typeface="Calibri"/>
              <a:buNone/>
              <a:defRPr sz="48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4800"/>
              <a:buNone/>
              <a:defRPr sz="4800">
                <a:solidFill>
                  <a:srgbClr val="00336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4800"/>
              <a:buNone/>
              <a:defRPr sz="4800">
                <a:solidFill>
                  <a:srgbClr val="00336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4800"/>
              <a:buNone/>
              <a:defRPr sz="4800">
                <a:solidFill>
                  <a:srgbClr val="00336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4800"/>
              <a:buNone/>
              <a:defRPr sz="4800">
                <a:solidFill>
                  <a:srgbClr val="00336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4800"/>
              <a:buNone/>
              <a:defRPr sz="4800">
                <a:solidFill>
                  <a:srgbClr val="00336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4800"/>
              <a:buNone/>
              <a:defRPr sz="4800">
                <a:solidFill>
                  <a:srgbClr val="00336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4800"/>
              <a:buNone/>
              <a:defRPr sz="4800">
                <a:solidFill>
                  <a:srgbClr val="00336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4800"/>
              <a:buNone/>
              <a:defRPr sz="4800">
                <a:solidFill>
                  <a:srgbClr val="003366"/>
                </a:solidFill>
              </a:defRPr>
            </a:lvl9pPr>
          </a:lstStyle>
          <a:p/>
        </p:txBody>
      </p:sp>
      <p:sp>
        <p:nvSpPr>
          <p:cNvPr id="45" name="Google Shape;45;p8"/>
          <p:cNvSpPr txBox="1"/>
          <p:nvPr>
            <p:ph idx="12" type="sldNum"/>
          </p:nvPr>
        </p:nvSpPr>
        <p:spPr>
          <a:xfrm>
            <a:off x="8472458" y="63700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lvl="2" rtl="0"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lvl="3" rtl="0"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lvl="4" rtl="0"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lvl="5" rtl="0">
              <a:buNone/>
              <a:defRPr>
                <a:latin typeface="Calibri"/>
                <a:ea typeface="Calibri"/>
                <a:cs typeface="Calibri"/>
                <a:sym typeface="Calibri"/>
              </a:defRPr>
            </a:lvl6pPr>
            <a:lvl7pPr lvl="6" rtl="0">
              <a:buNone/>
              <a:defRPr>
                <a:latin typeface="Calibri"/>
                <a:ea typeface="Calibri"/>
                <a:cs typeface="Calibri"/>
                <a:sym typeface="Calibri"/>
              </a:defRPr>
            </a:lvl7pPr>
            <a:lvl8pPr lvl="7" rtl="0">
              <a:buNone/>
              <a:defRPr>
                <a:latin typeface="Calibri"/>
                <a:ea typeface="Calibri"/>
                <a:cs typeface="Calibri"/>
                <a:sym typeface="Calibri"/>
              </a:defRPr>
            </a:lvl8pPr>
            <a:lvl9pPr lvl="8" rtl="0">
              <a:buNone/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rgbClr val="003366"/>
              </a:solidFill>
            </a:endParaRPr>
          </a:p>
        </p:txBody>
      </p:sp>
      <p:pic>
        <p:nvPicPr>
          <p:cNvPr id="46" name="Google Shape;46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0475" y="6611525"/>
            <a:ext cx="313926" cy="16535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8"/>
          <p:cNvSpPr txBox="1"/>
          <p:nvPr/>
        </p:nvSpPr>
        <p:spPr>
          <a:xfrm>
            <a:off x="398200" y="6542850"/>
            <a:ext cx="4785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003366"/>
                </a:solidFill>
              </a:rPr>
              <a:t>CIC</a:t>
            </a:r>
            <a:endParaRPr b="1" sz="1000">
              <a:solidFill>
                <a:srgbClr val="003366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4200"/>
              <a:buFont typeface="Calibri"/>
              <a:buNone/>
              <a:defRPr sz="42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1" name="Google Shape;51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Calibri"/>
              <a:buNone/>
              <a:defRPr sz="2100"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2" name="Google Shape;52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>
              <a:spcBef>
                <a:spcPts val="1600"/>
              </a:spcBef>
              <a:spcAft>
                <a:spcPts val="0"/>
              </a:spcAft>
              <a:buSzPts val="2000"/>
              <a:buFont typeface="Calibri"/>
              <a:buChar char="○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>
              <a:spcBef>
                <a:spcPts val="1600"/>
              </a:spcBef>
              <a:spcAft>
                <a:spcPts val="0"/>
              </a:spcAft>
              <a:buSzPts val="2000"/>
              <a:buFont typeface="Calibri"/>
              <a:buChar char="■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>
              <a:spcBef>
                <a:spcPts val="1600"/>
              </a:spcBef>
              <a:spcAft>
                <a:spcPts val="0"/>
              </a:spcAft>
              <a:buSzPts val="2000"/>
              <a:buFont typeface="Calibri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>
              <a:spcBef>
                <a:spcPts val="1600"/>
              </a:spcBef>
              <a:spcAft>
                <a:spcPts val="0"/>
              </a:spcAft>
              <a:buSzPts val="2000"/>
              <a:buFont typeface="Calibri"/>
              <a:buChar char="○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>
              <a:spcBef>
                <a:spcPts val="1600"/>
              </a:spcBef>
              <a:spcAft>
                <a:spcPts val="0"/>
              </a:spcAft>
              <a:buSzPts val="2000"/>
              <a:buFont typeface="Calibri"/>
              <a:buChar char="■"/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>
              <a:spcBef>
                <a:spcPts val="1600"/>
              </a:spcBef>
              <a:spcAft>
                <a:spcPts val="0"/>
              </a:spcAft>
              <a:buSzPts val="2000"/>
              <a:buFont typeface="Calibri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>
              <a:spcBef>
                <a:spcPts val="1600"/>
              </a:spcBef>
              <a:spcAft>
                <a:spcPts val="0"/>
              </a:spcAft>
              <a:buSzPts val="2000"/>
              <a:buFont typeface="Calibri"/>
              <a:buChar char="○"/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>
              <a:spcBef>
                <a:spcPts val="1600"/>
              </a:spcBef>
              <a:spcAft>
                <a:spcPts val="1600"/>
              </a:spcAft>
              <a:buSzPts val="2000"/>
              <a:buFont typeface="Calibri"/>
              <a:buChar char="■"/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472458" y="63700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lvl="2" rtl="0"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lvl="3" rtl="0"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lvl="4" rtl="0"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lvl="5" rtl="0">
              <a:buNone/>
              <a:defRPr>
                <a:latin typeface="Calibri"/>
                <a:ea typeface="Calibri"/>
                <a:cs typeface="Calibri"/>
                <a:sym typeface="Calibri"/>
              </a:defRPr>
            </a:lvl6pPr>
            <a:lvl7pPr lvl="6" rtl="0">
              <a:buNone/>
              <a:defRPr>
                <a:latin typeface="Calibri"/>
                <a:ea typeface="Calibri"/>
                <a:cs typeface="Calibri"/>
                <a:sym typeface="Calibri"/>
              </a:defRPr>
            </a:lvl7pPr>
            <a:lvl8pPr lvl="7" rtl="0">
              <a:buNone/>
              <a:defRPr>
                <a:latin typeface="Calibri"/>
                <a:ea typeface="Calibri"/>
                <a:cs typeface="Calibri"/>
                <a:sym typeface="Calibri"/>
              </a:defRPr>
            </a:lvl8pPr>
            <a:lvl9pPr lvl="8" rtl="0">
              <a:buNone/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rgbClr val="003366"/>
              </a:solidFill>
            </a:endParaRPr>
          </a:p>
        </p:txBody>
      </p:sp>
      <p:pic>
        <p:nvPicPr>
          <p:cNvPr id="54" name="Google Shape;5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0475" y="6611525"/>
            <a:ext cx="313926" cy="16535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9"/>
          <p:cNvSpPr txBox="1"/>
          <p:nvPr/>
        </p:nvSpPr>
        <p:spPr>
          <a:xfrm>
            <a:off x="398200" y="6542850"/>
            <a:ext cx="4785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003366"/>
                </a:solidFill>
              </a:rPr>
              <a:t>CIC</a:t>
            </a:r>
            <a:endParaRPr b="1" sz="1000">
              <a:solidFill>
                <a:srgbClr val="003366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400"/>
              <a:buFont typeface="Calibri"/>
              <a:buNone/>
              <a:defRPr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8472458" y="63700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lvl="2" rtl="0"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lvl="3" rtl="0"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lvl="4" rtl="0"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lvl="5" rtl="0">
              <a:buNone/>
              <a:defRPr>
                <a:latin typeface="Calibri"/>
                <a:ea typeface="Calibri"/>
                <a:cs typeface="Calibri"/>
                <a:sym typeface="Calibri"/>
              </a:defRPr>
            </a:lvl6pPr>
            <a:lvl7pPr lvl="6" rtl="0">
              <a:buNone/>
              <a:defRPr>
                <a:latin typeface="Calibri"/>
                <a:ea typeface="Calibri"/>
                <a:cs typeface="Calibri"/>
                <a:sym typeface="Calibri"/>
              </a:defRPr>
            </a:lvl7pPr>
            <a:lvl8pPr lvl="7" rtl="0">
              <a:buNone/>
              <a:defRPr>
                <a:latin typeface="Calibri"/>
                <a:ea typeface="Calibri"/>
                <a:cs typeface="Calibri"/>
                <a:sym typeface="Calibri"/>
              </a:defRPr>
            </a:lvl8pPr>
            <a:lvl9pPr lvl="8" rtl="0">
              <a:buNone/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rgbClr val="003366"/>
              </a:solidFill>
            </a:endParaRPr>
          </a:p>
        </p:txBody>
      </p:sp>
      <p:pic>
        <p:nvPicPr>
          <p:cNvPr id="59" name="Google Shape;5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0475" y="6611525"/>
            <a:ext cx="313926" cy="16535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0"/>
          <p:cNvSpPr txBox="1"/>
          <p:nvPr/>
        </p:nvSpPr>
        <p:spPr>
          <a:xfrm>
            <a:off x="398200" y="6542850"/>
            <a:ext cx="4785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003366"/>
                </a:solidFill>
              </a:rPr>
              <a:t>CIC</a:t>
            </a:r>
            <a:endParaRPr b="1" sz="1000">
              <a:solidFill>
                <a:srgbClr val="003366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12000"/>
              <a:buFont typeface="Calibri"/>
              <a:buNone/>
              <a:defRPr sz="120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3" name="Google Shape;63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Font typeface="Calibri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algn="ctr">
              <a:spcBef>
                <a:spcPts val="1600"/>
              </a:spcBef>
              <a:spcAft>
                <a:spcPts val="0"/>
              </a:spcAft>
              <a:buSzPts val="2000"/>
              <a:buFont typeface="Calibri"/>
              <a:buChar char="○"/>
              <a:defRPr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algn="ctr">
              <a:spcBef>
                <a:spcPts val="1600"/>
              </a:spcBef>
              <a:spcAft>
                <a:spcPts val="0"/>
              </a:spcAft>
              <a:buSzPts val="2000"/>
              <a:buFont typeface="Calibri"/>
              <a:buChar char="■"/>
              <a:defRPr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algn="ctr">
              <a:spcBef>
                <a:spcPts val="1600"/>
              </a:spcBef>
              <a:spcAft>
                <a:spcPts val="0"/>
              </a:spcAft>
              <a:buSzPts val="2000"/>
              <a:buFont typeface="Calibri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algn="ctr">
              <a:spcBef>
                <a:spcPts val="1600"/>
              </a:spcBef>
              <a:spcAft>
                <a:spcPts val="0"/>
              </a:spcAft>
              <a:buSzPts val="2000"/>
              <a:buFont typeface="Calibri"/>
              <a:buChar char="○"/>
              <a:defRPr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algn="ctr">
              <a:spcBef>
                <a:spcPts val="1600"/>
              </a:spcBef>
              <a:spcAft>
                <a:spcPts val="0"/>
              </a:spcAft>
              <a:buSzPts val="2000"/>
              <a:buFont typeface="Calibri"/>
              <a:buChar char="■"/>
              <a:defRPr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algn="ctr">
              <a:spcBef>
                <a:spcPts val="1600"/>
              </a:spcBef>
              <a:spcAft>
                <a:spcPts val="0"/>
              </a:spcAft>
              <a:buSzPts val="2000"/>
              <a:buFont typeface="Calibri"/>
              <a:buChar char="●"/>
              <a:defRPr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algn="ctr">
              <a:spcBef>
                <a:spcPts val="1600"/>
              </a:spcBef>
              <a:spcAft>
                <a:spcPts val="0"/>
              </a:spcAft>
              <a:buSzPts val="2000"/>
              <a:buFont typeface="Calibri"/>
              <a:buChar char="○"/>
              <a:defRPr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algn="ctr">
              <a:spcBef>
                <a:spcPts val="1600"/>
              </a:spcBef>
              <a:spcAft>
                <a:spcPts val="1600"/>
              </a:spcAft>
              <a:buSzPts val="2000"/>
              <a:buFont typeface="Calibri"/>
              <a:buChar char="■"/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8472458" y="63700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lvl="2" rtl="0"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lvl="3" rtl="0"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lvl="4" rtl="0"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lvl="5" rtl="0">
              <a:buNone/>
              <a:defRPr>
                <a:latin typeface="Calibri"/>
                <a:ea typeface="Calibri"/>
                <a:cs typeface="Calibri"/>
                <a:sym typeface="Calibri"/>
              </a:defRPr>
            </a:lvl6pPr>
            <a:lvl7pPr lvl="6" rtl="0">
              <a:buNone/>
              <a:defRPr>
                <a:latin typeface="Calibri"/>
                <a:ea typeface="Calibri"/>
                <a:cs typeface="Calibri"/>
                <a:sym typeface="Calibri"/>
              </a:defRPr>
            </a:lvl7pPr>
            <a:lvl8pPr lvl="7" rtl="0">
              <a:buNone/>
              <a:defRPr>
                <a:latin typeface="Calibri"/>
                <a:ea typeface="Calibri"/>
                <a:cs typeface="Calibri"/>
                <a:sym typeface="Calibri"/>
              </a:defRPr>
            </a:lvl8pPr>
            <a:lvl9pPr lvl="8" rtl="0">
              <a:buNone/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rgbClr val="003366"/>
              </a:solidFill>
            </a:endParaRPr>
          </a:p>
        </p:txBody>
      </p:sp>
      <p:pic>
        <p:nvPicPr>
          <p:cNvPr id="65" name="Google Shape;6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0475" y="6611525"/>
            <a:ext cx="313926" cy="16535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1"/>
          <p:cNvSpPr txBox="1"/>
          <p:nvPr/>
        </p:nvSpPr>
        <p:spPr>
          <a:xfrm>
            <a:off x="398200" y="6542850"/>
            <a:ext cx="4785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003366"/>
                </a:solidFill>
              </a:rPr>
              <a:t>CIC</a:t>
            </a:r>
            <a:endParaRPr b="1" sz="1000">
              <a:solidFill>
                <a:srgbClr val="003366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/>
          <p:nvPr>
            <p:ph idx="12" type="sldNum"/>
          </p:nvPr>
        </p:nvSpPr>
        <p:spPr>
          <a:xfrm>
            <a:off x="8472458" y="63700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buNone/>
              <a:defRPr>
                <a:latin typeface="Calibri"/>
                <a:ea typeface="Calibri"/>
                <a:cs typeface="Calibri"/>
                <a:sym typeface="Calibri"/>
              </a:defRPr>
            </a:lvl2pPr>
            <a:lvl3pPr lvl="2" rtl="0">
              <a:buNone/>
              <a:defRPr>
                <a:latin typeface="Calibri"/>
                <a:ea typeface="Calibri"/>
                <a:cs typeface="Calibri"/>
                <a:sym typeface="Calibri"/>
              </a:defRPr>
            </a:lvl3pPr>
            <a:lvl4pPr lvl="3" rtl="0">
              <a:buNone/>
              <a:defRPr>
                <a:latin typeface="Calibri"/>
                <a:ea typeface="Calibri"/>
                <a:cs typeface="Calibri"/>
                <a:sym typeface="Calibri"/>
              </a:defRPr>
            </a:lvl4pPr>
            <a:lvl5pPr lvl="4" rtl="0">
              <a:buNone/>
              <a:defRPr>
                <a:latin typeface="Calibri"/>
                <a:ea typeface="Calibri"/>
                <a:cs typeface="Calibri"/>
                <a:sym typeface="Calibri"/>
              </a:defRPr>
            </a:lvl5pPr>
            <a:lvl6pPr lvl="5" rtl="0">
              <a:buNone/>
              <a:defRPr>
                <a:latin typeface="Calibri"/>
                <a:ea typeface="Calibri"/>
                <a:cs typeface="Calibri"/>
                <a:sym typeface="Calibri"/>
              </a:defRPr>
            </a:lvl6pPr>
            <a:lvl7pPr lvl="6" rtl="0">
              <a:buNone/>
              <a:defRPr>
                <a:latin typeface="Calibri"/>
                <a:ea typeface="Calibri"/>
                <a:cs typeface="Calibri"/>
                <a:sym typeface="Calibri"/>
              </a:defRPr>
            </a:lvl7pPr>
            <a:lvl8pPr lvl="7" rtl="0">
              <a:buNone/>
              <a:defRPr>
                <a:latin typeface="Calibri"/>
                <a:ea typeface="Calibri"/>
                <a:cs typeface="Calibri"/>
                <a:sym typeface="Calibri"/>
              </a:defRPr>
            </a:lvl8pPr>
            <a:lvl9pPr lvl="8" rtl="0">
              <a:buNone/>
              <a:defRPr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rgbClr val="003366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03366"/>
              </a:buClr>
              <a:buSzPts val="2800"/>
              <a:buFont typeface="Calibri"/>
              <a:buNone/>
              <a:defRPr sz="2800">
                <a:solidFill>
                  <a:srgbClr val="00336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alibri"/>
              <a:buChar char="●"/>
              <a:defRPr sz="2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Char char="○"/>
              <a:defRPr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Char char="■"/>
              <a:defRPr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Char char="●"/>
              <a:defRPr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Char char="○"/>
              <a:defRPr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Char char="■"/>
              <a:defRPr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Char char="●"/>
              <a:defRPr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Char char="○"/>
              <a:defRPr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2000"/>
              <a:buFont typeface="Calibri"/>
              <a:buChar char="■"/>
              <a:defRPr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160475" y="6611525"/>
            <a:ext cx="313926" cy="16535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1"/>
          <p:cNvSpPr txBox="1"/>
          <p:nvPr/>
        </p:nvSpPr>
        <p:spPr>
          <a:xfrm>
            <a:off x="398200" y="6542850"/>
            <a:ext cx="4785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rgbClr val="003366"/>
                </a:solidFill>
              </a:rPr>
              <a:t>CIC</a:t>
            </a:r>
            <a:endParaRPr b="1" sz="1000">
              <a:solidFill>
                <a:srgbClr val="003366"/>
              </a:solidFill>
            </a:endParaRPr>
          </a:p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595309" y="6431709"/>
            <a:ext cx="5487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buNone/>
              <a:defRPr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buNone/>
              <a:defRPr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algn="ctr">
              <a:buNone/>
              <a:defRPr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algn="ctr">
              <a:buNone/>
              <a:defRPr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algn="ctr">
              <a:buNone/>
              <a:defRPr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algn="ctr">
              <a:buNone/>
              <a:defRPr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algn="ctr">
              <a:buNone/>
              <a:defRPr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algn="ctr">
              <a:buNone/>
              <a:defRPr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algn="ctr">
              <a:buNone/>
              <a:defRPr sz="1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/>
          <p:nvPr>
            <p:ph type="ctrTitle"/>
          </p:nvPr>
        </p:nvSpPr>
        <p:spPr>
          <a:xfrm>
            <a:off x="311700" y="1087772"/>
            <a:ext cx="8520600" cy="159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/>
              <a:t>Análise comparativa de algoritmos de aprendizado de máquina para classificação multiclasse de ataques cibernéticos: EFC, Random Forest e LightGBM</a:t>
            </a:r>
            <a:endParaRPr sz="3000"/>
          </a:p>
        </p:txBody>
      </p:sp>
      <p:sp>
        <p:nvSpPr>
          <p:cNvPr id="74" name="Google Shape;74;p13"/>
          <p:cNvSpPr txBox="1"/>
          <p:nvPr>
            <p:ph idx="1" type="subTitle"/>
          </p:nvPr>
        </p:nvSpPr>
        <p:spPr>
          <a:xfrm>
            <a:off x="311688" y="27411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Aluno: Gabriel F. O. Castro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Orientador: Prof. Dr. Marcelo Antonio Marotta</a:t>
            </a:r>
            <a:endParaRPr/>
          </a:p>
        </p:txBody>
      </p:sp>
      <p:sp>
        <p:nvSpPr>
          <p:cNvPr id="75" name="Google Shape;75;p13"/>
          <p:cNvSpPr txBox="1"/>
          <p:nvPr>
            <p:ph idx="4294967295" type="sldNum"/>
          </p:nvPr>
        </p:nvSpPr>
        <p:spPr>
          <a:xfrm>
            <a:off x="8595309" y="6431709"/>
            <a:ext cx="548700" cy="52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Segurança Cibern</a:t>
            </a:r>
            <a:r>
              <a:rPr lang="pt-BR"/>
              <a:t>ética na Era da Digitalização</a:t>
            </a:r>
            <a:endParaRPr/>
          </a:p>
        </p:txBody>
      </p:sp>
      <p:sp>
        <p:nvSpPr>
          <p:cNvPr id="81" name="Google Shape;81;p1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Crescente digitalizaç</a:t>
            </a:r>
            <a:r>
              <a:rPr lang="pt-BR"/>
              <a:t>ão de serviços essenciais e dependência das infraestruturas conectadas;</a:t>
            </a:r>
            <a:endParaRPr/>
          </a:p>
          <a:p>
            <a:pPr indent="-381000" lvl="0" marL="457200" rtl="0" algn="just">
              <a:spcBef>
                <a:spcPts val="160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Segurança cibernética como pilar da sociedade moderna:</a:t>
            </a:r>
            <a:endParaRPr/>
          </a:p>
          <a:p>
            <a:pPr indent="-355600" lvl="1" marL="914400" rtl="0" algn="just">
              <a:spcBef>
                <a:spcPts val="1600"/>
              </a:spcBef>
              <a:spcAft>
                <a:spcPts val="0"/>
              </a:spcAft>
              <a:buSzPts val="2000"/>
              <a:buChar char="○"/>
            </a:pPr>
            <a:r>
              <a:rPr lang="pt-BR"/>
              <a:t>Garante a proteção dos dados e continuidade de operações em setores vitais.</a:t>
            </a:r>
            <a:endParaRPr/>
          </a:p>
          <a:p>
            <a:pPr indent="-381000" lvl="0" marL="457200" rtl="0" algn="just">
              <a:spcBef>
                <a:spcPts val="1600"/>
              </a:spcBef>
              <a:spcAft>
                <a:spcPts val="1600"/>
              </a:spcAft>
              <a:buSzPts val="2400"/>
              <a:buChar char="●"/>
            </a:pPr>
            <a:r>
              <a:rPr lang="pt-BR"/>
              <a:t>No Brasil surge a LGPD como marco regulatório para o tratamento de dados.</a:t>
            </a:r>
            <a:endParaRPr/>
          </a:p>
        </p:txBody>
      </p:sp>
      <p:sp>
        <p:nvSpPr>
          <p:cNvPr id="82" name="Google Shape;82;p14"/>
          <p:cNvSpPr txBox="1"/>
          <p:nvPr>
            <p:ph idx="12" type="sldNum"/>
          </p:nvPr>
        </p:nvSpPr>
        <p:spPr>
          <a:xfrm>
            <a:off x="8472458" y="63700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rgbClr val="003366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Desafio da Detecç</a:t>
            </a:r>
            <a:r>
              <a:rPr lang="pt-BR"/>
              <a:t>ão de Intrusão</a:t>
            </a:r>
            <a:endParaRPr/>
          </a:p>
        </p:txBody>
      </p:sp>
      <p:sp>
        <p:nvSpPr>
          <p:cNvPr id="88" name="Google Shape;88;p1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Ataques cibern</a:t>
            </a:r>
            <a:r>
              <a:rPr lang="pt-BR"/>
              <a:t>éticos comprometem os 4 pilares da Segurança da Informação: </a:t>
            </a:r>
            <a:r>
              <a:rPr lang="pt-BR"/>
              <a:t>Integridade</a:t>
            </a:r>
            <a:r>
              <a:rPr lang="pt-BR"/>
              <a:t>, Confidencialidade, Disponibilidade e Autenticidade</a:t>
            </a:r>
            <a:endParaRPr/>
          </a:p>
          <a:p>
            <a:pPr indent="-381000" lvl="0" marL="457200" rtl="0" algn="just">
              <a:spcBef>
                <a:spcPts val="160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Diversidade de ameaças</a:t>
            </a:r>
            <a:endParaRPr/>
          </a:p>
          <a:p>
            <a:pPr indent="-381000" lvl="0" marL="457200" rtl="0" algn="just">
              <a:spcBef>
                <a:spcPts val="160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Tráfego malicioso frequentemente mimetiza padrões legítimos</a:t>
            </a:r>
            <a:endParaRPr/>
          </a:p>
          <a:p>
            <a:pPr indent="-381000" lvl="0" marL="457200" rtl="0" algn="just">
              <a:spcBef>
                <a:spcPts val="1600"/>
              </a:spcBef>
              <a:spcAft>
                <a:spcPts val="1600"/>
              </a:spcAft>
              <a:buSzPts val="2400"/>
              <a:buChar char="●"/>
            </a:pPr>
            <a:r>
              <a:rPr lang="pt-BR"/>
              <a:t>Utilização de aprendizado de máquina em Sistemas de Detecção de Intrusões (IDSs).</a:t>
            </a:r>
            <a:endParaRPr/>
          </a:p>
        </p:txBody>
      </p:sp>
      <p:sp>
        <p:nvSpPr>
          <p:cNvPr id="89" name="Google Shape;89;p15"/>
          <p:cNvSpPr txBox="1"/>
          <p:nvPr>
            <p:ph idx="12" type="sldNum"/>
          </p:nvPr>
        </p:nvSpPr>
        <p:spPr>
          <a:xfrm>
            <a:off x="8472458" y="63700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rgbClr val="003366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Objetivo do Trabalho</a:t>
            </a:r>
            <a:endParaRPr/>
          </a:p>
        </p:txBody>
      </p:sp>
      <p:sp>
        <p:nvSpPr>
          <p:cNvPr id="95" name="Google Shape;95;p1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O trabalho busca responder duas perguntas principais:</a:t>
            </a:r>
            <a:endParaRPr/>
          </a:p>
          <a:p>
            <a:pPr indent="-381000" lvl="1" marL="914400" rtl="0" algn="l">
              <a:spcBef>
                <a:spcPts val="1600"/>
              </a:spcBef>
              <a:spcAft>
                <a:spcPts val="0"/>
              </a:spcAft>
              <a:buSzPts val="2400"/>
              <a:buChar char="○"/>
            </a:pPr>
            <a:r>
              <a:rPr lang="pt-BR" sz="2400"/>
              <a:t>O EFC </a:t>
            </a:r>
            <a:r>
              <a:rPr lang="pt-BR" sz="2400"/>
              <a:t>é competitivo quando comparado com algoritmos consolidados da literatura ?</a:t>
            </a:r>
            <a:endParaRPr sz="2400"/>
          </a:p>
          <a:p>
            <a:pPr indent="-381000" lvl="1" marL="914400" rtl="0" algn="l">
              <a:spcBef>
                <a:spcPts val="1600"/>
              </a:spcBef>
              <a:spcAft>
                <a:spcPts val="1600"/>
              </a:spcAft>
              <a:buSzPts val="2400"/>
              <a:buChar char="○"/>
            </a:pPr>
            <a:r>
              <a:rPr lang="pt-BR" sz="2400"/>
              <a:t>A otimização de hiperparâmetros e arquiteturas de combinação do modelo melhoram o desempenho do EFC ?</a:t>
            </a:r>
            <a:endParaRPr sz="2400"/>
          </a:p>
        </p:txBody>
      </p:sp>
      <p:sp>
        <p:nvSpPr>
          <p:cNvPr id="96" name="Google Shape;96;p16"/>
          <p:cNvSpPr txBox="1"/>
          <p:nvPr>
            <p:ph idx="12" type="sldNum"/>
          </p:nvPr>
        </p:nvSpPr>
        <p:spPr>
          <a:xfrm>
            <a:off x="8472458" y="63700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rgbClr val="003366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Proposto por Pontes et al. (2021)</a:t>
            </a:r>
            <a:endParaRPr/>
          </a:p>
          <a:p>
            <a:pPr indent="-381000" lvl="0" marL="457200" rtl="0" algn="l">
              <a:spcBef>
                <a:spcPts val="160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Abordagem baseada em f</a:t>
            </a:r>
            <a:r>
              <a:rPr lang="pt-BR"/>
              <a:t>ísica estatística (Modelo de P</a:t>
            </a:r>
            <a:r>
              <a:rPr lang="pt-BR"/>
              <a:t>otts)</a:t>
            </a:r>
            <a:endParaRPr/>
          </a:p>
          <a:p>
            <a:pPr indent="-381000" lvl="0" marL="457200" rtl="0" algn="l">
              <a:spcBef>
                <a:spcPts val="1600"/>
              </a:spcBef>
              <a:spcAft>
                <a:spcPts val="0"/>
              </a:spcAft>
              <a:buSzPts val="2400"/>
              <a:buChar char="●"/>
            </a:pPr>
            <a:r>
              <a:rPr lang="pt-BR"/>
              <a:t>Originalmente, um classificador binário.</a:t>
            </a:r>
            <a:endParaRPr/>
          </a:p>
          <a:p>
            <a:pPr indent="-381000" lvl="0" marL="457200" rtl="0" algn="l">
              <a:spcBef>
                <a:spcPts val="1600"/>
              </a:spcBef>
              <a:spcAft>
                <a:spcPts val="1600"/>
              </a:spcAft>
              <a:buSzPts val="2400"/>
              <a:buChar char="●"/>
            </a:pPr>
            <a:r>
              <a:rPr lang="pt-BR"/>
              <a:t>Modelo caixa-branca.</a:t>
            </a:r>
            <a:endParaRPr/>
          </a:p>
        </p:txBody>
      </p:sp>
      <p:sp>
        <p:nvSpPr>
          <p:cNvPr id="102" name="Google Shape;102;p1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Referencial Te</a:t>
            </a:r>
            <a:r>
              <a:rPr lang="pt-BR"/>
              <a:t>órico: EFC</a:t>
            </a:r>
            <a:endParaRPr/>
          </a:p>
        </p:txBody>
      </p:sp>
      <p:sp>
        <p:nvSpPr>
          <p:cNvPr id="103" name="Google Shape;103;p17"/>
          <p:cNvSpPr txBox="1"/>
          <p:nvPr>
            <p:ph idx="12" type="sldNum"/>
          </p:nvPr>
        </p:nvSpPr>
        <p:spPr>
          <a:xfrm>
            <a:off x="8472458" y="63700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rgbClr val="003366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311700" y="452196"/>
            <a:ext cx="8520600" cy="43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Extens</a:t>
            </a:r>
            <a:r>
              <a:rPr lang="pt-BR" sz="2400"/>
              <a:t>ão: EFC Multiclasse</a:t>
            </a:r>
            <a:endParaRPr sz="2400"/>
          </a:p>
        </p:txBody>
      </p:sp>
      <p:sp>
        <p:nvSpPr>
          <p:cNvPr id="109" name="Google Shape;109;p18"/>
          <p:cNvSpPr txBox="1"/>
          <p:nvPr>
            <p:ph idx="12" type="sldNum"/>
          </p:nvPr>
        </p:nvSpPr>
        <p:spPr>
          <a:xfrm>
            <a:off x="8472458" y="63700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rgbClr val="003366"/>
              </a:solidFill>
            </a:endParaRPr>
          </a:p>
        </p:txBody>
      </p:sp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311700" y="888104"/>
            <a:ext cx="8520600" cy="21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pt-BR" sz="2000"/>
              <a:t>Extens</a:t>
            </a:r>
            <a:r>
              <a:rPr lang="pt-BR" sz="2000"/>
              <a:t>ão proposta por Souza (2022).</a:t>
            </a:r>
            <a:endParaRPr sz="2000"/>
          </a:p>
          <a:p>
            <a:pPr indent="-355600" lvl="0" marL="457200" rtl="0" algn="l">
              <a:spcBef>
                <a:spcPts val="1600"/>
              </a:spcBef>
              <a:spcAft>
                <a:spcPts val="0"/>
              </a:spcAft>
              <a:buSzPts val="2000"/>
              <a:buChar char="●"/>
            </a:pPr>
            <a:r>
              <a:rPr lang="pt-BR" sz="2000"/>
              <a:t>O modelo treina um perfil energético para cada classe.</a:t>
            </a:r>
            <a:endParaRPr sz="2000"/>
          </a:p>
          <a:p>
            <a:pPr indent="-355600" lvl="0" marL="457200" rtl="0" algn="l">
              <a:spcBef>
                <a:spcPts val="1600"/>
              </a:spcBef>
              <a:spcAft>
                <a:spcPts val="1600"/>
              </a:spcAft>
              <a:buSzPts val="2000"/>
              <a:buChar char="●"/>
            </a:pPr>
            <a:r>
              <a:rPr lang="pt-BR" sz="2000"/>
              <a:t>Categoriza cada amostra dentro de uma classe específica baseada na sua energia.</a:t>
            </a:r>
            <a:endParaRPr sz="2000"/>
          </a:p>
        </p:txBody>
      </p:sp>
      <p:pic>
        <p:nvPicPr>
          <p:cNvPr id="111" name="Google Shape;111;p18" title="fase_de_teste_efc_propio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7963" y="3003700"/>
            <a:ext cx="7468073" cy="2780349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8"/>
          <p:cNvSpPr txBox="1"/>
          <p:nvPr/>
        </p:nvSpPr>
        <p:spPr>
          <a:xfrm>
            <a:off x="1885650" y="5978525"/>
            <a:ext cx="45171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Figura 1: Funcionamento EFC Multiclasse.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Random Forest</a:t>
            </a:r>
            <a:endParaRPr sz="2400"/>
          </a:p>
        </p:txBody>
      </p:sp>
      <p:sp>
        <p:nvSpPr>
          <p:cNvPr id="118" name="Google Shape;118;p1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pt-BR" sz="2000"/>
              <a:t>Proposto por Breiman (2001).</a:t>
            </a:r>
            <a:endParaRPr sz="2000"/>
          </a:p>
          <a:p>
            <a:pPr indent="-355600" lvl="0" marL="457200" rtl="0" algn="l">
              <a:spcBef>
                <a:spcPts val="1600"/>
              </a:spcBef>
              <a:spcAft>
                <a:spcPts val="0"/>
              </a:spcAft>
              <a:buSzPts val="2000"/>
              <a:buChar char="●"/>
            </a:pPr>
            <a:r>
              <a:rPr lang="pt-BR" sz="2000"/>
              <a:t>Conjunto de múltiplas árvores de decisão.</a:t>
            </a:r>
            <a:endParaRPr sz="2000"/>
          </a:p>
          <a:p>
            <a:pPr indent="-355600" lvl="0" marL="457200" rtl="0" algn="l">
              <a:spcBef>
                <a:spcPts val="1600"/>
              </a:spcBef>
              <a:spcAft>
                <a:spcPts val="0"/>
              </a:spcAft>
              <a:buSzPts val="2000"/>
              <a:buChar char="●"/>
            </a:pPr>
            <a:r>
              <a:rPr lang="pt-BR" sz="2000"/>
              <a:t>Cada árvore é treinada em uma divisão diferente diferente dos dados (bagging).</a:t>
            </a:r>
            <a:endParaRPr sz="2000"/>
          </a:p>
          <a:p>
            <a:pPr indent="-355600" lvl="0" marL="457200" rtl="0" algn="l">
              <a:spcBef>
                <a:spcPts val="1600"/>
              </a:spcBef>
              <a:spcAft>
                <a:spcPts val="1600"/>
              </a:spcAft>
              <a:buSzPts val="2000"/>
              <a:buChar char="●"/>
            </a:pPr>
            <a:r>
              <a:rPr lang="pt-BR" sz="2000"/>
              <a:t>A decisão final é definida por votação majoritária entre árvores.</a:t>
            </a:r>
            <a:endParaRPr sz="2000"/>
          </a:p>
        </p:txBody>
      </p:sp>
      <p:sp>
        <p:nvSpPr>
          <p:cNvPr id="119" name="Google Shape;119;p19"/>
          <p:cNvSpPr txBox="1"/>
          <p:nvPr>
            <p:ph idx="12" type="sldNum"/>
          </p:nvPr>
        </p:nvSpPr>
        <p:spPr>
          <a:xfrm>
            <a:off x="8472458" y="63700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rgbClr val="003366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LightGBM</a:t>
            </a:r>
            <a:endParaRPr sz="2400"/>
          </a:p>
        </p:txBody>
      </p:sp>
      <p:sp>
        <p:nvSpPr>
          <p:cNvPr id="125" name="Google Shape;125;p2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pt-BR" sz="2000"/>
              <a:t>Proposto por Ke et al.</a:t>
            </a:r>
            <a:endParaRPr sz="2000"/>
          </a:p>
          <a:p>
            <a:pPr indent="-355600" lvl="0" marL="457200" rtl="0" algn="l">
              <a:spcBef>
                <a:spcPts val="1600"/>
              </a:spcBef>
              <a:spcAft>
                <a:spcPts val="0"/>
              </a:spcAft>
              <a:buSzPts val="2000"/>
              <a:buChar char="●"/>
            </a:pPr>
            <a:r>
              <a:rPr lang="pt-BR" sz="2000"/>
              <a:t>Baseado em conjunto de árvores de decisão. Treina árvores uma depois da outro e cada árvore tem como objetivo corrigir o erro das anteriores.</a:t>
            </a:r>
            <a:endParaRPr sz="2000"/>
          </a:p>
          <a:p>
            <a:pPr indent="-355600" lvl="0" marL="457200" rtl="0" algn="l">
              <a:spcBef>
                <a:spcPts val="1600"/>
              </a:spcBef>
              <a:spcAft>
                <a:spcPts val="0"/>
              </a:spcAft>
              <a:buSzPts val="2000"/>
              <a:buChar char="●"/>
            </a:pPr>
            <a:r>
              <a:rPr lang="pt-BR" sz="2000"/>
              <a:t>A decisão final é a soma ponderada das previsões de cada árvore.</a:t>
            </a:r>
            <a:endParaRPr sz="2000"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26" name="Google Shape;126;p20"/>
          <p:cNvSpPr txBox="1"/>
          <p:nvPr>
            <p:ph idx="12" type="sldNum"/>
          </p:nvPr>
        </p:nvSpPr>
        <p:spPr>
          <a:xfrm>
            <a:off x="8472458" y="63700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rgbClr val="003366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/>
          <p:nvPr>
            <p:ph type="title"/>
          </p:nvPr>
        </p:nvSpPr>
        <p:spPr>
          <a:xfrm>
            <a:off x="311700" y="40501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Metodologia</a:t>
            </a:r>
            <a:endParaRPr/>
          </a:p>
        </p:txBody>
      </p:sp>
      <p:sp>
        <p:nvSpPr>
          <p:cNvPr id="132" name="Google Shape;132;p21"/>
          <p:cNvSpPr txBox="1"/>
          <p:nvPr>
            <p:ph idx="12" type="sldNum"/>
          </p:nvPr>
        </p:nvSpPr>
        <p:spPr>
          <a:xfrm>
            <a:off x="8472458" y="63700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rgbClr val="003366"/>
              </a:solidFill>
            </a:endParaRPr>
          </a:p>
        </p:txBody>
      </p:sp>
      <p:pic>
        <p:nvPicPr>
          <p:cNvPr id="133" name="Google Shape;133;p21" title="pipeline_do_TCC_quarta_versao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5250" y="1168525"/>
            <a:ext cx="7193498" cy="476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1"/>
          <p:cNvSpPr txBox="1"/>
          <p:nvPr/>
        </p:nvSpPr>
        <p:spPr>
          <a:xfrm>
            <a:off x="1168500" y="6168125"/>
            <a:ext cx="68070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Figura 2: Estrutura experimental do sistema proposto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Dataset</a:t>
            </a:r>
            <a:endParaRPr sz="2400"/>
          </a:p>
        </p:txBody>
      </p:sp>
      <p:sp>
        <p:nvSpPr>
          <p:cNvPr id="140" name="Google Shape;140;p22"/>
          <p:cNvSpPr txBox="1"/>
          <p:nvPr>
            <p:ph idx="1" type="body"/>
          </p:nvPr>
        </p:nvSpPr>
        <p:spPr>
          <a:xfrm>
            <a:off x="311700" y="1356874"/>
            <a:ext cx="8520600" cy="50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pt-BR" sz="2000"/>
              <a:t>Dataset original fortemente desbalanceado e com diversos subtipos de ataques.</a:t>
            </a:r>
            <a:endParaRPr sz="2000"/>
          </a:p>
          <a:p>
            <a:pPr indent="-355600" lvl="0" marL="457200" rtl="0" algn="l">
              <a:spcBef>
                <a:spcPts val="1600"/>
              </a:spcBef>
              <a:spcAft>
                <a:spcPts val="0"/>
              </a:spcAft>
              <a:buSzPts val="2000"/>
              <a:buChar char="●"/>
            </a:pPr>
            <a:r>
              <a:rPr lang="pt-BR" sz="2000"/>
              <a:t>Os subtipos foram agrupados em 6 categorias principais, seguindo as definições do Instituto Nacional de Padrões e Tecnologia (NIST):</a:t>
            </a:r>
            <a:endParaRPr sz="2000"/>
          </a:p>
          <a:p>
            <a:pPr indent="-355600" lvl="1" marL="914400" rtl="0" algn="l">
              <a:spcBef>
                <a:spcPts val="1600"/>
              </a:spcBef>
              <a:spcAft>
                <a:spcPts val="0"/>
              </a:spcAft>
              <a:buSzPts val="2000"/>
              <a:buChar char="○"/>
            </a:pPr>
            <a:r>
              <a:rPr lang="pt-BR"/>
              <a:t>Benign: tráfego benigno;</a:t>
            </a:r>
            <a:endParaRPr/>
          </a:p>
          <a:p>
            <a:pPr indent="-355600" lvl="1" marL="914400" rtl="0" algn="l">
              <a:spcBef>
                <a:spcPts val="1600"/>
              </a:spcBef>
              <a:spcAft>
                <a:spcPts val="0"/>
              </a:spcAft>
              <a:buSzPts val="2000"/>
              <a:buChar char="○"/>
            </a:pPr>
            <a:r>
              <a:rPr lang="pt-BR"/>
              <a:t>DoS: ataques de negação de serviço;</a:t>
            </a:r>
            <a:endParaRPr/>
          </a:p>
          <a:p>
            <a:pPr indent="-355600" lvl="1" marL="914400" rtl="0" algn="l">
              <a:spcBef>
                <a:spcPts val="1600"/>
              </a:spcBef>
              <a:spcAft>
                <a:spcPts val="0"/>
              </a:spcAft>
              <a:buSzPts val="2000"/>
              <a:buChar char="○"/>
            </a:pPr>
            <a:r>
              <a:rPr lang="pt-BR"/>
              <a:t>DDoS: ataques de negação de serviço distribuído;</a:t>
            </a:r>
            <a:endParaRPr/>
          </a:p>
          <a:p>
            <a:pPr indent="-355600" lvl="1" marL="914400" rtl="0" algn="l">
              <a:spcBef>
                <a:spcPts val="1600"/>
              </a:spcBef>
              <a:spcAft>
                <a:spcPts val="0"/>
              </a:spcAft>
              <a:buSzPts val="2000"/>
              <a:buChar char="○"/>
            </a:pPr>
            <a:r>
              <a:rPr lang="pt-BR"/>
              <a:t>MQTT Attack: ataques direcionados ao protocolo de comunicação usado em IoT;</a:t>
            </a:r>
            <a:endParaRPr/>
          </a:p>
          <a:p>
            <a:pPr indent="-355600" lvl="1" marL="914400" rtl="0" algn="l">
              <a:spcBef>
                <a:spcPts val="1600"/>
              </a:spcBef>
              <a:spcAft>
                <a:spcPts val="0"/>
              </a:spcAft>
              <a:buSzPts val="2000"/>
              <a:buChar char="○"/>
            </a:pPr>
            <a:r>
              <a:rPr lang="pt-BR"/>
              <a:t>Reconnaissance</a:t>
            </a:r>
            <a:r>
              <a:rPr lang="pt-BR"/>
              <a:t>: varredura de rede, buscando vulnerabilidade;</a:t>
            </a:r>
            <a:endParaRPr/>
          </a:p>
          <a:p>
            <a:pPr indent="-355600" lvl="1" marL="914400" rtl="0" algn="l">
              <a:spcBef>
                <a:spcPts val="1600"/>
              </a:spcBef>
              <a:spcAft>
                <a:spcPts val="1600"/>
              </a:spcAft>
              <a:buSzPts val="2000"/>
              <a:buChar char="○"/>
            </a:pPr>
            <a:r>
              <a:rPr lang="pt-BR"/>
              <a:t>Spoofing: falsificação de identidade.</a:t>
            </a:r>
            <a:endParaRPr/>
          </a:p>
        </p:txBody>
      </p:sp>
      <p:sp>
        <p:nvSpPr>
          <p:cNvPr id="141" name="Google Shape;141;p22"/>
          <p:cNvSpPr txBox="1"/>
          <p:nvPr>
            <p:ph idx="12" type="sldNum"/>
          </p:nvPr>
        </p:nvSpPr>
        <p:spPr>
          <a:xfrm>
            <a:off x="8472458" y="63700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rgbClr val="003366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 txBox="1"/>
          <p:nvPr>
            <p:ph type="title"/>
          </p:nvPr>
        </p:nvSpPr>
        <p:spPr>
          <a:xfrm>
            <a:off x="311700" y="156722"/>
            <a:ext cx="8520600" cy="5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Amostragem do Dataset</a:t>
            </a:r>
            <a:endParaRPr sz="2400"/>
          </a:p>
        </p:txBody>
      </p:sp>
      <p:sp>
        <p:nvSpPr>
          <p:cNvPr id="147" name="Google Shape;147;p23"/>
          <p:cNvSpPr txBox="1"/>
          <p:nvPr>
            <p:ph idx="1" type="body"/>
          </p:nvPr>
        </p:nvSpPr>
        <p:spPr>
          <a:xfrm>
            <a:off x="311700" y="754831"/>
            <a:ext cx="8520600" cy="15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pt-BR" sz="2000"/>
              <a:t>Dataset original com quases 7 milhões de amostras.</a:t>
            </a:r>
            <a:endParaRPr sz="2000"/>
          </a:p>
          <a:p>
            <a:pPr indent="-355600" lvl="0" marL="457200" rtl="0" algn="l">
              <a:spcBef>
                <a:spcPts val="1600"/>
              </a:spcBef>
              <a:spcAft>
                <a:spcPts val="1600"/>
              </a:spcAft>
              <a:buSzPts val="2000"/>
              <a:buChar char="●"/>
            </a:pPr>
            <a:r>
              <a:rPr lang="pt-BR" sz="2000"/>
              <a:t>Solução: subamostragem aleatória, limitando a 8.000 amostras por classe.</a:t>
            </a:r>
            <a:endParaRPr sz="2000"/>
          </a:p>
        </p:txBody>
      </p:sp>
      <p:sp>
        <p:nvSpPr>
          <p:cNvPr id="148" name="Google Shape;148;p23"/>
          <p:cNvSpPr txBox="1"/>
          <p:nvPr>
            <p:ph idx="12" type="sldNum"/>
          </p:nvPr>
        </p:nvSpPr>
        <p:spPr>
          <a:xfrm>
            <a:off x="8472458" y="63700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rgbClr val="003366"/>
              </a:solidFill>
            </a:endParaRPr>
          </a:p>
        </p:txBody>
      </p:sp>
      <p:graphicFrame>
        <p:nvGraphicFramePr>
          <p:cNvPr id="149" name="Google Shape;149;p23"/>
          <p:cNvGraphicFramePr/>
          <p:nvPr/>
        </p:nvGraphicFramePr>
        <p:xfrm>
          <a:off x="469325" y="2431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{70034B49-D7A4-46F5-8D7C-A9EA0AFAB656}</a:tableStyleId>
              </a:tblPr>
              <a:tblGrid>
                <a:gridCol w="1636400"/>
                <a:gridCol w="1636400"/>
              </a:tblGrid>
              <a:tr h="383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Classe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Quantidade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</a:tr>
              <a:tr h="383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DDoS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4.779.859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83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DoS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1.805.529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3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MQTT Attack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262.938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3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Reconnaissance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103.726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3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Benign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19.291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3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Spoofing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16.047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3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Total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6.987.390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0" name="Google Shape;150;p23"/>
          <p:cNvSpPr txBox="1"/>
          <p:nvPr/>
        </p:nvSpPr>
        <p:spPr>
          <a:xfrm>
            <a:off x="380875" y="5933225"/>
            <a:ext cx="34497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Tabela 1: </a:t>
            </a:r>
            <a:r>
              <a:rPr lang="pt-BR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Distribuição</a:t>
            </a:r>
            <a:r>
              <a:rPr lang="pt-BR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original das amostras.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1" name="Google Shape;151;p23"/>
          <p:cNvGraphicFramePr/>
          <p:nvPr/>
        </p:nvGraphicFramePr>
        <p:xfrm>
          <a:off x="5199650" y="2431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{70034B49-D7A4-46F5-8D7C-A9EA0AFAB656}</a:tableStyleId>
              </a:tblPr>
              <a:tblGrid>
                <a:gridCol w="1636400"/>
                <a:gridCol w="1636400"/>
              </a:tblGrid>
              <a:tr h="383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Classe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Quantidade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6FA8DC"/>
                    </a:solidFill>
                  </a:tcPr>
                </a:tc>
              </a:tr>
              <a:tr h="383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DDoS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8.000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3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DoS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8.000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3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MQTT Attack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8.000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3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Reconnaissance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8.000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3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Benign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8.000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3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Spoofing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8.000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3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Total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48.000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152" name="Google Shape;152;p23"/>
          <p:cNvCxnSpPr/>
          <p:nvPr/>
        </p:nvCxnSpPr>
        <p:spPr>
          <a:xfrm>
            <a:off x="4041175" y="4412525"/>
            <a:ext cx="9762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3" name="Google Shape;153;p23"/>
          <p:cNvSpPr txBox="1"/>
          <p:nvPr/>
        </p:nvSpPr>
        <p:spPr>
          <a:xfrm>
            <a:off x="4639900" y="5933225"/>
            <a:ext cx="4392300" cy="4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Tabela 2: Distribuição das amostras ap</a:t>
            </a:r>
            <a:r>
              <a:rPr lang="pt-BR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ós a subamostragem</a:t>
            </a:r>
            <a:r>
              <a:rPr lang="pt-BR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Pr</a:t>
            </a:r>
            <a:r>
              <a:rPr lang="pt-BR" sz="2400"/>
              <a:t>é-processamento e Divisão dos Dados</a:t>
            </a:r>
            <a:endParaRPr sz="2400"/>
          </a:p>
        </p:txBody>
      </p:sp>
      <p:sp>
        <p:nvSpPr>
          <p:cNvPr id="159" name="Google Shape;159;p2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pt-BR" sz="2000"/>
              <a:t>Padronização dos nomes das colunas.</a:t>
            </a:r>
            <a:endParaRPr sz="2000"/>
          </a:p>
          <a:p>
            <a:pPr indent="-355600" lvl="0" marL="457200" rtl="0" algn="l">
              <a:spcBef>
                <a:spcPts val="1600"/>
              </a:spcBef>
              <a:spcAft>
                <a:spcPts val="0"/>
              </a:spcAft>
              <a:buSzPts val="2000"/>
              <a:buChar char="●"/>
            </a:pPr>
            <a:r>
              <a:rPr lang="pt-BR" sz="2000"/>
              <a:t>Tratamento de valores inválido.</a:t>
            </a:r>
            <a:endParaRPr sz="2000"/>
          </a:p>
          <a:p>
            <a:pPr indent="-355600" lvl="0" marL="457200" rtl="0" algn="l">
              <a:spcBef>
                <a:spcPts val="1600"/>
              </a:spcBef>
              <a:spcAft>
                <a:spcPts val="0"/>
              </a:spcAft>
              <a:buSzPts val="2000"/>
              <a:buChar char="●"/>
            </a:pPr>
            <a:r>
              <a:rPr lang="pt-BR" sz="2000"/>
              <a:t>Divisão dos dados: 80% treino e 20% teste.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60" name="Google Shape;160;p24"/>
          <p:cNvSpPr txBox="1"/>
          <p:nvPr>
            <p:ph idx="12" type="sldNum"/>
          </p:nvPr>
        </p:nvSpPr>
        <p:spPr>
          <a:xfrm>
            <a:off x="8472458" y="63700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rgbClr val="003366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Avaliaç</a:t>
            </a:r>
            <a:r>
              <a:rPr lang="pt-BR" sz="2400"/>
              <a:t>ão com Múltiplas Seeds</a:t>
            </a:r>
            <a:endParaRPr sz="2400"/>
          </a:p>
        </p:txBody>
      </p:sp>
      <p:sp>
        <p:nvSpPr>
          <p:cNvPr id="166" name="Google Shape;166;p2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pt-BR" sz="2000"/>
              <a:t>Cada modelo é avaliado ao longo de 30 execuções com sementes aleatórias diferentes.</a:t>
            </a:r>
            <a:endParaRPr sz="2000"/>
          </a:p>
          <a:p>
            <a:pPr indent="-355600" lvl="0" marL="457200" rtl="0" algn="l">
              <a:spcBef>
                <a:spcPts val="1600"/>
              </a:spcBef>
              <a:spcAft>
                <a:spcPts val="0"/>
              </a:spcAft>
              <a:buSzPts val="2000"/>
              <a:buChar char="●"/>
            </a:pPr>
            <a:r>
              <a:rPr lang="pt-BR" sz="2000"/>
              <a:t>Isso permite medir não só o desempenho médio, mas também a estabilidade de cada modelo.</a:t>
            </a:r>
            <a:endParaRPr sz="2000"/>
          </a:p>
          <a:p>
            <a:pPr indent="-355600" lvl="0" marL="457200" rtl="0" algn="l">
              <a:spcBef>
                <a:spcPts val="1600"/>
              </a:spcBef>
              <a:spcAft>
                <a:spcPts val="1600"/>
              </a:spcAft>
              <a:buSzPts val="2000"/>
              <a:buChar char="●"/>
            </a:pPr>
            <a:r>
              <a:rPr lang="pt-BR" sz="2000"/>
              <a:t>Uma semente é </a:t>
            </a:r>
            <a:r>
              <a:rPr lang="pt-BR" sz="2000"/>
              <a:t>selecionada</a:t>
            </a:r>
            <a:r>
              <a:rPr lang="pt-BR" sz="2000"/>
              <a:t> para análise individual mais detalhada de cada modelo (matriz de confusão, análise energética e  métricas de desempenho).</a:t>
            </a:r>
            <a:endParaRPr sz="2000"/>
          </a:p>
        </p:txBody>
      </p:sp>
      <p:sp>
        <p:nvSpPr>
          <p:cNvPr id="167" name="Google Shape;167;p25"/>
          <p:cNvSpPr txBox="1"/>
          <p:nvPr>
            <p:ph idx="12" type="sldNum"/>
          </p:nvPr>
        </p:nvSpPr>
        <p:spPr>
          <a:xfrm>
            <a:off x="8472458" y="63700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rgbClr val="003366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Variaç</a:t>
            </a:r>
            <a:r>
              <a:rPr lang="pt-BR" sz="2400"/>
              <a:t>ões do EFC Avaliadas</a:t>
            </a:r>
            <a:endParaRPr sz="2400"/>
          </a:p>
        </p:txBody>
      </p:sp>
      <p:sp>
        <p:nvSpPr>
          <p:cNvPr id="173" name="Google Shape;173;p26"/>
          <p:cNvSpPr txBox="1"/>
          <p:nvPr>
            <p:ph idx="1" type="body"/>
          </p:nvPr>
        </p:nvSpPr>
        <p:spPr>
          <a:xfrm>
            <a:off x="311700" y="1356874"/>
            <a:ext cx="8520600" cy="51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pt-BR" sz="2000"/>
              <a:t>EFC TPE:</a:t>
            </a:r>
            <a:endParaRPr sz="2000"/>
          </a:p>
          <a:p>
            <a:pPr indent="-355600" lvl="1" marL="914400" rtl="0" algn="l">
              <a:spcBef>
                <a:spcPts val="1600"/>
              </a:spcBef>
              <a:spcAft>
                <a:spcPts val="0"/>
              </a:spcAft>
              <a:buSzPts val="2000"/>
              <a:buChar char="○"/>
            </a:pPr>
            <a:r>
              <a:rPr lang="pt-BR"/>
              <a:t>Hiperparâmetros otimizados via algoritmo bayesiano (Tree-structured Parzen Estimator).</a:t>
            </a:r>
            <a:endParaRPr/>
          </a:p>
          <a:p>
            <a:pPr indent="-355600" lvl="0" marL="457200" rtl="0" algn="l">
              <a:spcBef>
                <a:spcPts val="1600"/>
              </a:spcBef>
              <a:spcAft>
                <a:spcPts val="0"/>
              </a:spcAft>
              <a:buSzPts val="2000"/>
              <a:buChar char="●"/>
            </a:pPr>
            <a:r>
              <a:rPr lang="pt-BR" sz="2000"/>
              <a:t>EFC GA:</a:t>
            </a:r>
            <a:endParaRPr sz="2000"/>
          </a:p>
          <a:p>
            <a:pPr indent="-355600" lvl="1" marL="914400" rtl="0" algn="l">
              <a:spcBef>
                <a:spcPts val="1600"/>
              </a:spcBef>
              <a:spcAft>
                <a:spcPts val="0"/>
              </a:spcAft>
              <a:buSzPts val="2000"/>
              <a:buChar char="○"/>
            </a:pPr>
            <a:r>
              <a:rPr lang="pt-BR"/>
              <a:t>Hiperparâmetros otimizados via algoritmo genético (NSGA-II).</a:t>
            </a:r>
            <a:endParaRPr/>
          </a:p>
          <a:p>
            <a:pPr indent="-355600" lvl="0" marL="457200" rtl="0" algn="l">
              <a:spcBef>
                <a:spcPts val="1600"/>
              </a:spcBef>
              <a:spcAft>
                <a:spcPts val="0"/>
              </a:spcAft>
              <a:buSzPts val="2000"/>
              <a:buChar char="●"/>
            </a:pPr>
            <a:r>
              <a:rPr lang="pt-BR" sz="2000"/>
              <a:t>Ensemble EFC (Floresta de EFCs):</a:t>
            </a:r>
            <a:endParaRPr sz="2000"/>
          </a:p>
          <a:p>
            <a:pPr indent="-355600" lvl="1" marL="914400" rtl="0" algn="l">
              <a:spcBef>
                <a:spcPts val="1600"/>
              </a:spcBef>
              <a:spcAft>
                <a:spcPts val="0"/>
              </a:spcAft>
              <a:buSzPts val="2000"/>
              <a:buChar char="○"/>
            </a:pPr>
            <a:r>
              <a:rPr lang="pt-BR"/>
              <a:t>Aplica o esquema de votação de múltiplos estimadores do Random Forest, mas usando o EFC como modelo base.</a:t>
            </a:r>
            <a:endParaRPr/>
          </a:p>
          <a:p>
            <a:pPr indent="-355600" lvl="0" marL="457200" rtl="0" algn="l">
              <a:spcBef>
                <a:spcPts val="1600"/>
              </a:spcBef>
              <a:spcAft>
                <a:spcPts val="0"/>
              </a:spcAft>
              <a:buSzPts val="2000"/>
              <a:buChar char="●"/>
            </a:pPr>
            <a:r>
              <a:rPr lang="pt-BR" sz="2000"/>
              <a:t>Stacking:</a:t>
            </a:r>
            <a:endParaRPr sz="2000"/>
          </a:p>
          <a:p>
            <a:pPr indent="-355600" lvl="1" marL="914400" rtl="0" algn="l">
              <a:spcBef>
                <a:spcPts val="1600"/>
              </a:spcBef>
              <a:spcAft>
                <a:spcPts val="1600"/>
              </a:spcAft>
              <a:buSzPts val="2000"/>
              <a:buChar char="○"/>
            </a:pPr>
            <a:r>
              <a:rPr lang="pt-BR"/>
              <a:t>Combina o EFC com o LightGBM, buscando unir o melhor de cada modelo.</a:t>
            </a:r>
            <a:endParaRPr/>
          </a:p>
        </p:txBody>
      </p:sp>
      <p:sp>
        <p:nvSpPr>
          <p:cNvPr id="174" name="Google Shape;174;p26"/>
          <p:cNvSpPr txBox="1"/>
          <p:nvPr>
            <p:ph idx="12" type="sldNum"/>
          </p:nvPr>
        </p:nvSpPr>
        <p:spPr>
          <a:xfrm>
            <a:off x="8472458" y="63700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rgbClr val="003366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7"/>
          <p:cNvSpPr txBox="1"/>
          <p:nvPr>
            <p:ph type="title"/>
          </p:nvPr>
        </p:nvSpPr>
        <p:spPr>
          <a:xfrm>
            <a:off x="311700" y="332192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/>
              <a:t>M</a:t>
            </a:r>
            <a:r>
              <a:rPr lang="pt-BR" sz="2400"/>
              <a:t>étricas de Avaliação</a:t>
            </a:r>
            <a:endParaRPr sz="2400"/>
          </a:p>
        </p:txBody>
      </p:sp>
      <p:sp>
        <p:nvSpPr>
          <p:cNvPr id="180" name="Google Shape;180;p27"/>
          <p:cNvSpPr txBox="1"/>
          <p:nvPr>
            <p:ph idx="12" type="sldNum"/>
          </p:nvPr>
        </p:nvSpPr>
        <p:spPr>
          <a:xfrm>
            <a:off x="8472458" y="63700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rgbClr val="003366"/>
              </a:solidFill>
            </a:endParaRPr>
          </a:p>
        </p:txBody>
      </p:sp>
      <p:sp>
        <p:nvSpPr>
          <p:cNvPr id="181" name="Google Shape;181;p27"/>
          <p:cNvSpPr txBox="1"/>
          <p:nvPr>
            <p:ph idx="1" type="body"/>
          </p:nvPr>
        </p:nvSpPr>
        <p:spPr>
          <a:xfrm>
            <a:off x="311700" y="802050"/>
            <a:ext cx="8520600" cy="52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Acurácia:</a:t>
            </a:r>
            <a:endParaRPr sz="1800"/>
          </a:p>
          <a:p>
            <a:pPr indent="-342900" lvl="1" marL="914400" rtl="0" algn="l">
              <a:spcBef>
                <a:spcPts val="1600"/>
              </a:spcBef>
              <a:spcAft>
                <a:spcPts val="0"/>
              </a:spcAft>
              <a:buSzPts val="1800"/>
              <a:buChar char="○"/>
            </a:pPr>
            <a:r>
              <a:rPr lang="pt-BR" sz="1800"/>
              <a:t>Proporção de classificações corretas em relação ao total de amostras.</a:t>
            </a:r>
            <a:endParaRPr sz="1800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Precisão:</a:t>
            </a:r>
            <a:endParaRPr sz="1800"/>
          </a:p>
          <a:p>
            <a:pPr indent="-342900" lvl="1" marL="914400" rtl="0" algn="l">
              <a:spcBef>
                <a:spcPts val="1600"/>
              </a:spcBef>
              <a:spcAft>
                <a:spcPts val="0"/>
              </a:spcAft>
              <a:buSzPts val="1800"/>
              <a:buChar char="○"/>
            </a:pPr>
            <a:r>
              <a:rPr lang="pt-BR" sz="1800"/>
              <a:t>De tudo que o modelo classificou como uma classe, quanto estava de fato correto.</a:t>
            </a:r>
            <a:endParaRPr sz="1800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Recall:</a:t>
            </a:r>
            <a:endParaRPr sz="1800"/>
          </a:p>
          <a:p>
            <a:pPr indent="-342900" lvl="1" marL="914400" rtl="0" algn="l">
              <a:spcBef>
                <a:spcPts val="1600"/>
              </a:spcBef>
              <a:spcAft>
                <a:spcPts val="0"/>
              </a:spcAft>
              <a:buSzPts val="1800"/>
              <a:buChar char="○"/>
            </a:pPr>
            <a:r>
              <a:rPr lang="pt-BR" sz="1800"/>
              <a:t>De tudo que realmente pertence a uma classe, quanto o modelo conseguiu identificar.</a:t>
            </a:r>
            <a:endParaRPr sz="1800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F1-Score:</a:t>
            </a:r>
            <a:endParaRPr sz="1800"/>
          </a:p>
          <a:p>
            <a:pPr indent="-342900" lvl="1" marL="914400" rtl="0" algn="l">
              <a:spcBef>
                <a:spcPts val="1600"/>
              </a:spcBef>
              <a:spcAft>
                <a:spcPts val="0"/>
              </a:spcAft>
              <a:buSzPts val="1800"/>
              <a:buChar char="○"/>
            </a:pPr>
            <a:r>
              <a:rPr lang="pt-BR" sz="1800"/>
              <a:t>Média harmônica entre precisão e recall, equilibrando as duas métricas.</a:t>
            </a:r>
            <a:endParaRPr sz="1800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Macro F1-Score:</a:t>
            </a:r>
            <a:endParaRPr sz="1700"/>
          </a:p>
          <a:p>
            <a:pPr indent="-342900" lvl="1" marL="914400" rtl="0" algn="l">
              <a:spcBef>
                <a:spcPts val="1600"/>
              </a:spcBef>
              <a:spcAft>
                <a:spcPts val="1600"/>
              </a:spcAft>
              <a:buSzPts val="1800"/>
              <a:buChar char="○"/>
            </a:pPr>
            <a:r>
              <a:rPr lang="pt-BR" sz="1800"/>
              <a:t>Média do F1-Score de todas as classes.</a:t>
            </a:r>
            <a:endParaRPr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8"/>
          <p:cNvSpPr txBox="1"/>
          <p:nvPr>
            <p:ph type="title"/>
          </p:nvPr>
        </p:nvSpPr>
        <p:spPr>
          <a:xfrm>
            <a:off x="311700" y="3047242"/>
            <a:ext cx="8520600" cy="76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Desempenho</a:t>
            </a:r>
            <a:r>
              <a:rPr lang="pt-BR"/>
              <a:t> Individual</a:t>
            </a:r>
            <a:endParaRPr/>
          </a:p>
        </p:txBody>
      </p:sp>
      <p:sp>
        <p:nvSpPr>
          <p:cNvPr id="187" name="Google Shape;187;p28"/>
          <p:cNvSpPr txBox="1"/>
          <p:nvPr>
            <p:ph idx="12" type="sldNum"/>
          </p:nvPr>
        </p:nvSpPr>
        <p:spPr>
          <a:xfrm>
            <a:off x="8472458" y="63700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rgbClr val="003366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9"/>
          <p:cNvSpPr txBox="1"/>
          <p:nvPr>
            <p:ph type="title"/>
          </p:nvPr>
        </p:nvSpPr>
        <p:spPr>
          <a:xfrm>
            <a:off x="311700" y="411942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EFC Padr</a:t>
            </a:r>
            <a:r>
              <a:rPr lang="pt-BR"/>
              <a:t>ão</a:t>
            </a:r>
            <a:endParaRPr/>
          </a:p>
        </p:txBody>
      </p:sp>
      <p:sp>
        <p:nvSpPr>
          <p:cNvPr id="193" name="Google Shape;193;p29"/>
          <p:cNvSpPr txBox="1"/>
          <p:nvPr>
            <p:ph idx="1" type="body"/>
          </p:nvPr>
        </p:nvSpPr>
        <p:spPr>
          <a:xfrm>
            <a:off x="311700" y="1175456"/>
            <a:ext cx="8520600" cy="12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Hiperparâmetros utilizados: </a:t>
            </a:r>
            <a:endParaRPr sz="1800"/>
          </a:p>
          <a:p>
            <a:pPr indent="-342900" lvl="1" marL="914400" rtl="0" algn="l">
              <a:spcBef>
                <a:spcPts val="1600"/>
              </a:spcBef>
              <a:spcAft>
                <a:spcPts val="0"/>
              </a:spcAft>
              <a:buSzPts val="1800"/>
              <a:buChar char="○"/>
            </a:pPr>
            <a:r>
              <a:rPr lang="pt-BR" sz="1800"/>
              <a:t>30 níveis de discretização, número de pseudocontagens de 0,5 e limiar de decisão ajustado para 0,90 (melhor que o padrão de 0,95)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4" name="Google Shape;194;p29"/>
          <p:cNvSpPr txBox="1"/>
          <p:nvPr>
            <p:ph idx="12" type="sldNum"/>
          </p:nvPr>
        </p:nvSpPr>
        <p:spPr>
          <a:xfrm>
            <a:off x="8472458" y="63700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rgbClr val="003366"/>
              </a:solidFill>
            </a:endParaRPr>
          </a:p>
        </p:txBody>
      </p:sp>
      <p:graphicFrame>
        <p:nvGraphicFramePr>
          <p:cNvPr id="195" name="Google Shape;195;p29"/>
          <p:cNvGraphicFramePr/>
          <p:nvPr/>
        </p:nvGraphicFramePr>
        <p:xfrm>
          <a:off x="952500" y="2533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{70034B49-D7A4-46F5-8D7C-A9EA0AFAB656}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</a:t>
                      </a: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ão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F1-score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Benign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0,94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0,98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0,96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DDoS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0,96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0,45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0,61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0,64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0,96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0,76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MQTT Attack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0,98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0,94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0,96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Reconnaissance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0,89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0,94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Spoofing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0,88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0,99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0,93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Acur</a:t>
                      </a: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ácia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0,87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</a:t>
                      </a: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édia Macro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0,90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0,87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0,86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6" name="Google Shape;196;p29"/>
          <p:cNvSpPr txBox="1"/>
          <p:nvPr/>
        </p:nvSpPr>
        <p:spPr>
          <a:xfrm>
            <a:off x="1315050" y="6099075"/>
            <a:ext cx="65139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Tabela 3: Métricas de Desempenho do EFC Padrão.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0"/>
          <p:cNvSpPr txBox="1"/>
          <p:nvPr>
            <p:ph idx="12" type="sldNum"/>
          </p:nvPr>
        </p:nvSpPr>
        <p:spPr>
          <a:xfrm>
            <a:off x="8472458" y="63700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rgbClr val="003366"/>
              </a:solidFill>
            </a:endParaRPr>
          </a:p>
        </p:txBody>
      </p:sp>
      <p:pic>
        <p:nvPicPr>
          <p:cNvPr id="202" name="Google Shape;202;p30" title="Matriz de Confusão EFC Padrã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5853" y="1029750"/>
            <a:ext cx="5232299" cy="416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0"/>
          <p:cNvSpPr txBox="1"/>
          <p:nvPr/>
        </p:nvSpPr>
        <p:spPr>
          <a:xfrm>
            <a:off x="1607400" y="5394025"/>
            <a:ext cx="59292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Figura 3: Matriz de Confusão do EFC Padrão.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1"/>
          <p:cNvSpPr txBox="1"/>
          <p:nvPr>
            <p:ph idx="1" type="body"/>
          </p:nvPr>
        </p:nvSpPr>
        <p:spPr>
          <a:xfrm>
            <a:off x="311700" y="319876"/>
            <a:ext cx="8520600" cy="162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pt-BR" sz="2000"/>
              <a:t>Para fins de visualização as 5 classes maliciosas foram agrupadas em uma única categoria “Malicious”.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09" name="Google Shape;209;p31"/>
          <p:cNvSpPr txBox="1"/>
          <p:nvPr>
            <p:ph idx="12" type="sldNum"/>
          </p:nvPr>
        </p:nvSpPr>
        <p:spPr>
          <a:xfrm>
            <a:off x="8472458" y="63700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rgbClr val="003366"/>
              </a:solidFill>
            </a:endParaRPr>
          </a:p>
        </p:txBody>
      </p:sp>
      <p:sp>
        <p:nvSpPr>
          <p:cNvPr id="210" name="Google Shape;210;p31"/>
          <p:cNvSpPr txBox="1"/>
          <p:nvPr>
            <p:ph idx="1" type="body"/>
          </p:nvPr>
        </p:nvSpPr>
        <p:spPr>
          <a:xfrm>
            <a:off x="1233150" y="5293300"/>
            <a:ext cx="6677700" cy="76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2000"/>
              <a:t>Figura 4: Distribuição de Energia do EFC Padrão.</a:t>
            </a:r>
            <a:endParaRPr sz="2000"/>
          </a:p>
        </p:txBody>
      </p:sp>
      <p:pic>
        <p:nvPicPr>
          <p:cNvPr id="211" name="Google Shape;211;p31" title="Distribuíção de Energia EFC Padrã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3138" y="1671052"/>
            <a:ext cx="6677724" cy="362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Random Forest</a:t>
            </a:r>
            <a:endParaRPr/>
          </a:p>
        </p:txBody>
      </p:sp>
      <p:sp>
        <p:nvSpPr>
          <p:cNvPr id="217" name="Google Shape;217;p32"/>
          <p:cNvSpPr txBox="1"/>
          <p:nvPr>
            <p:ph idx="12" type="sldNum"/>
          </p:nvPr>
        </p:nvSpPr>
        <p:spPr>
          <a:xfrm>
            <a:off x="8472458" y="63700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rgbClr val="003366"/>
              </a:solidFill>
            </a:endParaRPr>
          </a:p>
        </p:txBody>
      </p:sp>
      <p:graphicFrame>
        <p:nvGraphicFramePr>
          <p:cNvPr id="218" name="Google Shape;218;p32"/>
          <p:cNvGraphicFramePr/>
          <p:nvPr/>
        </p:nvGraphicFramePr>
        <p:xfrm>
          <a:off x="952500" y="14929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{70034B49-D7A4-46F5-8D7C-A9EA0AFAB656}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Precisão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F1-score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Benign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DDoS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0,81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0,78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0,79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0,79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0,81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0,80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MQTT Attack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0,99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0,99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0,99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Reconnaissance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0,98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0,93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0.95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Spoofing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0,92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0,97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0,95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Acurácia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0,91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Média Macro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0,91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0,91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0,91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219" name="Google Shape;219;p32"/>
          <p:cNvSpPr txBox="1"/>
          <p:nvPr/>
        </p:nvSpPr>
        <p:spPr>
          <a:xfrm>
            <a:off x="1315050" y="5194825"/>
            <a:ext cx="65139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Tabela 4: Métricas de Desempenho do Random Forest.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3"/>
          <p:cNvSpPr txBox="1"/>
          <p:nvPr>
            <p:ph idx="12" type="sldNum"/>
          </p:nvPr>
        </p:nvSpPr>
        <p:spPr>
          <a:xfrm>
            <a:off x="8472458" y="63700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rgbClr val="003366"/>
              </a:solidFill>
            </a:endParaRPr>
          </a:p>
        </p:txBody>
      </p:sp>
      <p:pic>
        <p:nvPicPr>
          <p:cNvPr id="225" name="Google Shape;225;p33" title="Matriz de Confusão RF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8101" y="894688"/>
            <a:ext cx="5476649" cy="435792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3"/>
          <p:cNvSpPr txBox="1"/>
          <p:nvPr/>
        </p:nvSpPr>
        <p:spPr>
          <a:xfrm>
            <a:off x="1314675" y="5252613"/>
            <a:ext cx="6758100" cy="7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Figura 5: Matriz de Confusão do Random Forest.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4"/>
          <p:cNvSpPr txBox="1"/>
          <p:nvPr>
            <p:ph type="title"/>
          </p:nvPr>
        </p:nvSpPr>
        <p:spPr>
          <a:xfrm>
            <a:off x="311700" y="3514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LightGBM</a:t>
            </a:r>
            <a:endParaRPr/>
          </a:p>
        </p:txBody>
      </p:sp>
      <p:sp>
        <p:nvSpPr>
          <p:cNvPr id="232" name="Google Shape;232;p34"/>
          <p:cNvSpPr txBox="1"/>
          <p:nvPr>
            <p:ph idx="12" type="sldNum"/>
          </p:nvPr>
        </p:nvSpPr>
        <p:spPr>
          <a:xfrm>
            <a:off x="8472458" y="63700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rgbClr val="003366"/>
              </a:solidFill>
            </a:endParaRPr>
          </a:p>
        </p:txBody>
      </p:sp>
      <p:graphicFrame>
        <p:nvGraphicFramePr>
          <p:cNvPr id="233" name="Google Shape;233;p34"/>
          <p:cNvGraphicFramePr/>
          <p:nvPr/>
        </p:nvGraphicFramePr>
        <p:xfrm>
          <a:off x="952500" y="13157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{70034B49-D7A4-46F5-8D7C-A9EA0AFAB656}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Precisão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F1-score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Benign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0,99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0,99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DDoS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0,89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0,77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0,83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0,80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0,90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0,85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MQTT Attack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0,98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0,99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Reconnaissance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0,99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0,92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0.96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Spoofing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0,92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0,98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0,95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Acurácia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0,93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Média Macro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0,93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0,93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0,93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234" name="Google Shape;234;p34"/>
          <p:cNvSpPr txBox="1"/>
          <p:nvPr/>
        </p:nvSpPr>
        <p:spPr>
          <a:xfrm>
            <a:off x="1315050" y="5017588"/>
            <a:ext cx="65139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Tabela 5: Métricas de Desempenho do LightGBM.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5"/>
          <p:cNvSpPr txBox="1"/>
          <p:nvPr>
            <p:ph idx="1" type="body"/>
          </p:nvPr>
        </p:nvSpPr>
        <p:spPr>
          <a:xfrm>
            <a:off x="311700" y="277957"/>
            <a:ext cx="8520600" cy="65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1600"/>
              </a:spcAft>
              <a:buSzPts val="2000"/>
              <a:buChar char="●"/>
            </a:pPr>
            <a:r>
              <a:rPr lang="pt-BR" sz="2000"/>
              <a:t>Diagonal principal densa e com poucos erros fora do eixo DoS/DDoS.</a:t>
            </a:r>
            <a:endParaRPr sz="2000"/>
          </a:p>
        </p:txBody>
      </p:sp>
      <p:sp>
        <p:nvSpPr>
          <p:cNvPr id="240" name="Google Shape;240;p35"/>
          <p:cNvSpPr txBox="1"/>
          <p:nvPr>
            <p:ph idx="12" type="sldNum"/>
          </p:nvPr>
        </p:nvSpPr>
        <p:spPr>
          <a:xfrm>
            <a:off x="8472458" y="63700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rgbClr val="003366"/>
              </a:solidFill>
            </a:endParaRPr>
          </a:p>
        </p:txBody>
      </p:sp>
      <p:pic>
        <p:nvPicPr>
          <p:cNvPr id="241" name="Google Shape;241;p35" title="Matriz de Confusão LGB.p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6625" y="933750"/>
            <a:ext cx="6070749" cy="4849249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35"/>
          <p:cNvSpPr txBox="1"/>
          <p:nvPr/>
        </p:nvSpPr>
        <p:spPr>
          <a:xfrm>
            <a:off x="1315350" y="5783000"/>
            <a:ext cx="66606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Figura 6: Matriz de Confusão do LightGBM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6"/>
          <p:cNvSpPr txBox="1"/>
          <p:nvPr>
            <p:ph type="title"/>
          </p:nvPr>
        </p:nvSpPr>
        <p:spPr>
          <a:xfrm>
            <a:off x="311700" y="304722"/>
            <a:ext cx="8520600" cy="5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/>
              <a:t>Ensemble EFC (Floresta de EFCs)</a:t>
            </a:r>
            <a:endParaRPr sz="2000"/>
          </a:p>
        </p:txBody>
      </p:sp>
      <p:sp>
        <p:nvSpPr>
          <p:cNvPr id="248" name="Google Shape;248;p36"/>
          <p:cNvSpPr txBox="1"/>
          <p:nvPr>
            <p:ph idx="1" type="body"/>
          </p:nvPr>
        </p:nvSpPr>
        <p:spPr>
          <a:xfrm>
            <a:off x="232300" y="791850"/>
            <a:ext cx="8520600" cy="74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just">
              <a:spcBef>
                <a:spcPts val="0"/>
              </a:spcBef>
              <a:spcAft>
                <a:spcPts val="1600"/>
              </a:spcAft>
              <a:buSzPts val="1900"/>
              <a:buChar char="●"/>
            </a:pPr>
            <a:r>
              <a:rPr lang="pt-BR" sz="1900"/>
              <a:t>Para determinar o melhor valor N de estimadores realizou-se uma busca no intervalo de 2 a 10.</a:t>
            </a:r>
            <a:endParaRPr sz="1900"/>
          </a:p>
        </p:txBody>
      </p:sp>
      <p:sp>
        <p:nvSpPr>
          <p:cNvPr id="249" name="Google Shape;249;p36"/>
          <p:cNvSpPr txBox="1"/>
          <p:nvPr>
            <p:ph idx="12" type="sldNum"/>
          </p:nvPr>
        </p:nvSpPr>
        <p:spPr>
          <a:xfrm>
            <a:off x="8378258" y="5813497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rgbClr val="003366"/>
              </a:solidFill>
            </a:endParaRPr>
          </a:p>
        </p:txBody>
      </p:sp>
      <p:graphicFrame>
        <p:nvGraphicFramePr>
          <p:cNvPr id="250" name="Google Shape;250;p36"/>
          <p:cNvGraphicFramePr/>
          <p:nvPr/>
        </p:nvGraphicFramePr>
        <p:xfrm>
          <a:off x="2857463" y="1883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{70034B49-D7A4-46F5-8D7C-A9EA0AFAB656}</a:tableStyleId>
              </a:tblPr>
              <a:tblGrid>
                <a:gridCol w="1887225"/>
                <a:gridCol w="13830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Estimadores (N)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Macro F1-Score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0,6958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0,7353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0,8584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0,7380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0,8739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0,7412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0,7389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0,7405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0,7372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51" name="Google Shape;251;p36"/>
          <p:cNvSpPr txBox="1"/>
          <p:nvPr/>
        </p:nvSpPr>
        <p:spPr>
          <a:xfrm>
            <a:off x="1288750" y="5794700"/>
            <a:ext cx="64077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Tabela 6: Busca experimental pelo número de estimadores (N).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7"/>
          <p:cNvSpPr txBox="1"/>
          <p:nvPr>
            <p:ph idx="1" type="body"/>
          </p:nvPr>
        </p:nvSpPr>
        <p:spPr>
          <a:xfrm>
            <a:off x="686900" y="1053375"/>
            <a:ext cx="7504500" cy="5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just">
              <a:spcBef>
                <a:spcPts val="0"/>
              </a:spcBef>
              <a:spcAft>
                <a:spcPts val="1600"/>
              </a:spcAft>
              <a:buSzPts val="2000"/>
              <a:buChar char="●"/>
            </a:pPr>
            <a:r>
              <a:rPr lang="pt-BR" sz="2000"/>
              <a:t>Relatório de classificação do modelo:</a:t>
            </a:r>
            <a:endParaRPr/>
          </a:p>
        </p:txBody>
      </p:sp>
      <p:sp>
        <p:nvSpPr>
          <p:cNvPr id="257" name="Google Shape;257;p37"/>
          <p:cNvSpPr txBox="1"/>
          <p:nvPr>
            <p:ph idx="12" type="sldNum"/>
          </p:nvPr>
        </p:nvSpPr>
        <p:spPr>
          <a:xfrm>
            <a:off x="8472458" y="63700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rgbClr val="003366"/>
              </a:solidFill>
            </a:endParaRPr>
          </a:p>
        </p:txBody>
      </p:sp>
      <p:graphicFrame>
        <p:nvGraphicFramePr>
          <p:cNvPr id="258" name="Google Shape;258;p37"/>
          <p:cNvGraphicFramePr/>
          <p:nvPr/>
        </p:nvGraphicFramePr>
        <p:xfrm>
          <a:off x="952500" y="157805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{70034B49-D7A4-46F5-8D7C-A9EA0AFAB656}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Precisão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F1-score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Benign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0,92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0,96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0,94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DDoS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0,95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0,55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0,70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0,68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0,94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0,79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MQTT Attack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0,96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0,95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0,96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Reconnaissance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0,89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0.94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Spoofing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0,87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0,96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0,91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Acurácia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0,88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Média Macro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0,90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0,88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0,87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sp>
        <p:nvSpPr>
          <p:cNvPr id="259" name="Google Shape;259;p37"/>
          <p:cNvSpPr txBox="1"/>
          <p:nvPr/>
        </p:nvSpPr>
        <p:spPr>
          <a:xfrm>
            <a:off x="1065900" y="5279938"/>
            <a:ext cx="7012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Tabela 7: Métricas de Desempenho do Ensemble EFC (Floresta de EFCs).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8"/>
          <p:cNvSpPr txBox="1"/>
          <p:nvPr>
            <p:ph idx="12" type="sldNum"/>
          </p:nvPr>
        </p:nvSpPr>
        <p:spPr>
          <a:xfrm>
            <a:off x="8472458" y="63700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rgbClr val="003366"/>
              </a:solidFill>
            </a:endParaRPr>
          </a:p>
        </p:txBody>
      </p:sp>
      <p:pic>
        <p:nvPicPr>
          <p:cNvPr id="265" name="Google Shape;265;p38" title="Matriz de Confusão Floresta de EFCs.p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6925" y="646363"/>
            <a:ext cx="6927275" cy="5117975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8"/>
          <p:cNvSpPr txBox="1"/>
          <p:nvPr/>
        </p:nvSpPr>
        <p:spPr>
          <a:xfrm>
            <a:off x="1053463" y="5764338"/>
            <a:ext cx="67542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Figura 7: Matriz de Confusão do Ensemble EFC (Floresta de EFCs)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9"/>
          <p:cNvSpPr txBox="1"/>
          <p:nvPr>
            <p:ph type="title"/>
          </p:nvPr>
        </p:nvSpPr>
        <p:spPr>
          <a:xfrm>
            <a:off x="311700" y="26141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EFC TPE</a:t>
            </a:r>
            <a:endParaRPr/>
          </a:p>
        </p:txBody>
      </p:sp>
      <p:sp>
        <p:nvSpPr>
          <p:cNvPr id="272" name="Google Shape;272;p39"/>
          <p:cNvSpPr txBox="1"/>
          <p:nvPr>
            <p:ph idx="1" type="body"/>
          </p:nvPr>
        </p:nvSpPr>
        <p:spPr>
          <a:xfrm>
            <a:off x="311700" y="1024930"/>
            <a:ext cx="8520600" cy="189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pt-BR" sz="2000"/>
              <a:t>Hiperparâmetros oti</a:t>
            </a:r>
            <a:r>
              <a:rPr lang="pt-BR" sz="2000"/>
              <a:t>mizados por meio do framework Optuna.</a:t>
            </a:r>
            <a:endParaRPr sz="2000"/>
          </a:p>
          <a:p>
            <a:pPr indent="-355600" lvl="0" marL="457200" rtl="0" algn="l">
              <a:spcBef>
                <a:spcPts val="1600"/>
              </a:spcBef>
              <a:spcAft>
                <a:spcPts val="0"/>
              </a:spcAft>
              <a:buSzPts val="2000"/>
              <a:buChar char="●"/>
            </a:pPr>
            <a:r>
              <a:rPr lang="pt-BR" sz="2000"/>
              <a:t>50 tentativas focadas na maximização do F1-Score.</a:t>
            </a:r>
            <a:endParaRPr sz="2000"/>
          </a:p>
          <a:p>
            <a:pPr indent="-355600" lvl="1" marL="914400" rtl="0" algn="l">
              <a:spcBef>
                <a:spcPts val="1600"/>
              </a:spcBef>
              <a:spcAft>
                <a:spcPts val="1600"/>
              </a:spcAft>
              <a:buSzPts val="2000"/>
              <a:buChar char="○"/>
            </a:pPr>
            <a:r>
              <a:rPr lang="pt-BR"/>
              <a:t>Intervalos definidos para níveis de discretização, pseudocontagens e limiar de decisão: [10,100], [0,2,0,8] e [0,75,0,99].</a:t>
            </a:r>
            <a:endParaRPr sz="2000"/>
          </a:p>
        </p:txBody>
      </p:sp>
      <p:sp>
        <p:nvSpPr>
          <p:cNvPr id="273" name="Google Shape;273;p39"/>
          <p:cNvSpPr txBox="1"/>
          <p:nvPr>
            <p:ph idx="12" type="sldNum"/>
          </p:nvPr>
        </p:nvSpPr>
        <p:spPr>
          <a:xfrm>
            <a:off x="8472458" y="63700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rgbClr val="003366"/>
              </a:solidFill>
            </a:endParaRPr>
          </a:p>
        </p:txBody>
      </p:sp>
      <p:pic>
        <p:nvPicPr>
          <p:cNvPr id="274" name="Google Shape;274;p39" title="historico_de_otimizacao_TP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3200" y="2917330"/>
            <a:ext cx="4823080" cy="312417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9"/>
          <p:cNvSpPr txBox="1"/>
          <p:nvPr/>
        </p:nvSpPr>
        <p:spPr>
          <a:xfrm>
            <a:off x="2353188" y="6041500"/>
            <a:ext cx="36831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Figura 8: Histórico de </a:t>
            </a:r>
            <a:r>
              <a:rPr lang="pt-BR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otimização</a:t>
            </a:r>
            <a:endParaRPr sz="2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0"/>
          <p:cNvSpPr txBox="1"/>
          <p:nvPr>
            <p:ph idx="1" type="body"/>
          </p:nvPr>
        </p:nvSpPr>
        <p:spPr>
          <a:xfrm>
            <a:off x="362213" y="271057"/>
            <a:ext cx="8520600" cy="5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1600"/>
              </a:spcAft>
              <a:buSzPts val="2000"/>
              <a:buChar char="●"/>
            </a:pPr>
            <a:r>
              <a:rPr lang="pt-BR" sz="2000"/>
              <a:t>Hiperparâmetros ótimos encontrados na tentativa 18:</a:t>
            </a:r>
            <a:endParaRPr/>
          </a:p>
        </p:txBody>
      </p:sp>
      <p:sp>
        <p:nvSpPr>
          <p:cNvPr id="281" name="Google Shape;281;p40"/>
          <p:cNvSpPr txBox="1"/>
          <p:nvPr>
            <p:ph idx="12" type="sldNum"/>
          </p:nvPr>
        </p:nvSpPr>
        <p:spPr>
          <a:xfrm>
            <a:off x="8472458" y="63700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rgbClr val="003366"/>
              </a:solidFill>
            </a:endParaRPr>
          </a:p>
        </p:txBody>
      </p:sp>
      <p:graphicFrame>
        <p:nvGraphicFramePr>
          <p:cNvPr id="282" name="Google Shape;282;p40"/>
          <p:cNvGraphicFramePr/>
          <p:nvPr/>
        </p:nvGraphicFramePr>
        <p:xfrm>
          <a:off x="2345163" y="795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{70034B49-D7A4-46F5-8D7C-A9EA0AFAB656}</a:tableStyleId>
              </a:tblPr>
              <a:tblGrid>
                <a:gridCol w="2096925"/>
                <a:gridCol w="20969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Hiperpar</a:t>
                      </a:r>
                      <a:r>
                        <a:rPr lang="pt-BR"/>
                        <a:t>âmetro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Valor otimizado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N</a:t>
                      </a:r>
                      <a:r>
                        <a:rPr lang="pt-BR"/>
                        <a:t>íveis de Discretização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Limiar de corte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⋍ </a:t>
                      </a:r>
                      <a:r>
                        <a:rPr lang="pt-BR"/>
                        <a:t>0,77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Pseudocontagens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⋍ </a:t>
                      </a:r>
                      <a:r>
                        <a:rPr lang="pt-BR"/>
                        <a:t>0,56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83" name="Google Shape;283;p40"/>
          <p:cNvSpPr txBox="1"/>
          <p:nvPr/>
        </p:nvSpPr>
        <p:spPr>
          <a:xfrm>
            <a:off x="1772288" y="2380550"/>
            <a:ext cx="54984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Tabela 8: Hiperparâmetros ótimos via TPE.</a:t>
            </a:r>
            <a:endParaRPr sz="2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40"/>
          <p:cNvSpPr txBox="1"/>
          <p:nvPr>
            <p:ph idx="1" type="body"/>
          </p:nvPr>
        </p:nvSpPr>
        <p:spPr>
          <a:xfrm>
            <a:off x="362213" y="2834707"/>
            <a:ext cx="8520600" cy="5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1600"/>
              </a:spcAft>
              <a:buSzPts val="2000"/>
              <a:buChar char="●"/>
            </a:pPr>
            <a:r>
              <a:rPr lang="pt-BR" sz="2000"/>
              <a:t>O framework permitiu avaliar a importância relativa de cada parâmetro</a:t>
            </a:r>
            <a:endParaRPr/>
          </a:p>
        </p:txBody>
      </p:sp>
      <p:pic>
        <p:nvPicPr>
          <p:cNvPr id="285" name="Google Shape;285;p40" title="importancia_dos_hiperparametros_TP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3050" y="3429007"/>
            <a:ext cx="4418100" cy="2861842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40"/>
          <p:cNvSpPr txBox="1"/>
          <p:nvPr>
            <p:ph idx="1" type="body"/>
          </p:nvPr>
        </p:nvSpPr>
        <p:spPr>
          <a:xfrm>
            <a:off x="362225" y="6233132"/>
            <a:ext cx="8520600" cy="5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2000"/>
              <a:t>Figura 9: Importância relativa dos hiperparâmetros.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1"/>
          <p:cNvSpPr txBox="1"/>
          <p:nvPr>
            <p:ph idx="1" type="body"/>
          </p:nvPr>
        </p:nvSpPr>
        <p:spPr>
          <a:xfrm>
            <a:off x="311700" y="1015357"/>
            <a:ext cx="8520600" cy="4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1600"/>
              </a:spcAft>
              <a:buSzPts val="2000"/>
              <a:buChar char="●"/>
            </a:pPr>
            <a:r>
              <a:rPr lang="pt-BR" sz="2000"/>
              <a:t>Analisando as métricas de desempenho do EFC TPE.</a:t>
            </a:r>
            <a:endParaRPr/>
          </a:p>
        </p:txBody>
      </p:sp>
      <p:sp>
        <p:nvSpPr>
          <p:cNvPr id="292" name="Google Shape;292;p41"/>
          <p:cNvSpPr txBox="1"/>
          <p:nvPr>
            <p:ph idx="12" type="sldNum"/>
          </p:nvPr>
        </p:nvSpPr>
        <p:spPr>
          <a:xfrm>
            <a:off x="8472458" y="63700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rgbClr val="003366"/>
              </a:solidFill>
            </a:endParaRPr>
          </a:p>
        </p:txBody>
      </p:sp>
      <p:graphicFrame>
        <p:nvGraphicFramePr>
          <p:cNvPr id="293" name="Google Shape;293;p41"/>
          <p:cNvGraphicFramePr/>
          <p:nvPr/>
        </p:nvGraphicFramePr>
        <p:xfrm>
          <a:off x="952500" y="157805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{70034B49-D7A4-46F5-8D7C-A9EA0AFAB656}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Precisão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F1-score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Benign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0,97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0,96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0,97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DDoS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0,93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0,66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0,77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0,73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0,93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0,82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MQTT Attack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0,97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0,97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0,97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Reconnaissance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0,91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0.95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Spoofing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0,89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0,99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0,94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Acurácia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0,90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Média Macro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0,90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0,90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0,90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294" name="Google Shape;294;p41"/>
          <p:cNvSpPr txBox="1"/>
          <p:nvPr/>
        </p:nvSpPr>
        <p:spPr>
          <a:xfrm>
            <a:off x="1065900" y="5279938"/>
            <a:ext cx="7012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Tabela 9: Métricas de Desempenho do EFC TPE.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2"/>
          <p:cNvSpPr txBox="1"/>
          <p:nvPr>
            <p:ph idx="12" type="sldNum"/>
          </p:nvPr>
        </p:nvSpPr>
        <p:spPr>
          <a:xfrm>
            <a:off x="8472458" y="63700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rgbClr val="003366"/>
              </a:solidFill>
            </a:endParaRPr>
          </a:p>
        </p:txBody>
      </p:sp>
      <p:pic>
        <p:nvPicPr>
          <p:cNvPr id="300" name="Google Shape;300;p42" title="Matriz de Confusão EFC TP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7238" y="824450"/>
            <a:ext cx="6529524" cy="520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42"/>
          <p:cNvSpPr txBox="1"/>
          <p:nvPr/>
        </p:nvSpPr>
        <p:spPr>
          <a:xfrm>
            <a:off x="2197950" y="6033550"/>
            <a:ext cx="47481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Figura 10: Matriz de Confusão do EFC TPE.</a:t>
            </a:r>
            <a:endParaRPr sz="2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3"/>
          <p:cNvSpPr txBox="1"/>
          <p:nvPr>
            <p:ph idx="1" type="body"/>
          </p:nvPr>
        </p:nvSpPr>
        <p:spPr>
          <a:xfrm>
            <a:off x="2279100" y="5753475"/>
            <a:ext cx="4585800" cy="5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1800"/>
              <a:t>Figura 11: </a:t>
            </a:r>
            <a:r>
              <a:rPr lang="pt-BR" sz="1800"/>
              <a:t>Distribuição</a:t>
            </a:r>
            <a:r>
              <a:rPr lang="pt-BR" sz="1800"/>
              <a:t> de Energia do EFC TPE.</a:t>
            </a:r>
            <a:endParaRPr sz="1800"/>
          </a:p>
        </p:txBody>
      </p:sp>
      <p:sp>
        <p:nvSpPr>
          <p:cNvPr id="307" name="Google Shape;307;p43"/>
          <p:cNvSpPr txBox="1"/>
          <p:nvPr>
            <p:ph idx="12" type="sldNum"/>
          </p:nvPr>
        </p:nvSpPr>
        <p:spPr>
          <a:xfrm>
            <a:off x="8472458" y="63700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rgbClr val="003366"/>
              </a:solidFill>
            </a:endParaRPr>
          </a:p>
        </p:txBody>
      </p:sp>
      <p:pic>
        <p:nvPicPr>
          <p:cNvPr id="308" name="Google Shape;308;p43" title="Distribuíção de Energia EFC TP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950" y="1362488"/>
            <a:ext cx="7622099" cy="413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4"/>
          <p:cNvSpPr txBox="1"/>
          <p:nvPr>
            <p:ph type="title"/>
          </p:nvPr>
        </p:nvSpPr>
        <p:spPr>
          <a:xfrm>
            <a:off x="311700" y="28411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EFC GA</a:t>
            </a:r>
            <a:endParaRPr/>
          </a:p>
        </p:txBody>
      </p:sp>
      <p:sp>
        <p:nvSpPr>
          <p:cNvPr id="314" name="Google Shape;314;p44"/>
          <p:cNvSpPr txBox="1"/>
          <p:nvPr>
            <p:ph idx="1" type="body"/>
          </p:nvPr>
        </p:nvSpPr>
        <p:spPr>
          <a:xfrm>
            <a:off x="373550" y="1047630"/>
            <a:ext cx="8520600" cy="180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just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pt-BR" sz="2000"/>
              <a:t>Hiperparâmetros otimizados pelo framework NSGA-II. Fundamentados em princípios evolutivos.</a:t>
            </a:r>
            <a:endParaRPr sz="2000"/>
          </a:p>
          <a:p>
            <a:pPr indent="-355600" lvl="0" marL="457200" rtl="0" algn="just">
              <a:spcBef>
                <a:spcPts val="1600"/>
              </a:spcBef>
              <a:spcAft>
                <a:spcPts val="1600"/>
              </a:spcAft>
              <a:buSzPts val="2000"/>
              <a:buChar char="●"/>
            </a:pPr>
            <a:r>
              <a:rPr lang="pt-BR" sz="2000"/>
              <a:t>Os intervalos de busca adotados foram o mesmo que os adotados anteriormente.</a:t>
            </a:r>
            <a:endParaRPr sz="2000"/>
          </a:p>
        </p:txBody>
      </p:sp>
      <p:sp>
        <p:nvSpPr>
          <p:cNvPr id="315" name="Google Shape;315;p44"/>
          <p:cNvSpPr txBox="1"/>
          <p:nvPr>
            <p:ph idx="12" type="sldNum"/>
          </p:nvPr>
        </p:nvSpPr>
        <p:spPr>
          <a:xfrm>
            <a:off x="8472458" y="63700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rgbClr val="003366"/>
              </a:solidFill>
            </a:endParaRPr>
          </a:p>
        </p:txBody>
      </p:sp>
      <p:sp>
        <p:nvSpPr>
          <p:cNvPr id="316" name="Google Shape;316;p44"/>
          <p:cNvSpPr txBox="1"/>
          <p:nvPr/>
        </p:nvSpPr>
        <p:spPr>
          <a:xfrm>
            <a:off x="1591550" y="5882425"/>
            <a:ext cx="60846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Figura 12: Histórico de Otimização 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7" name="Google Shape;317;p44" title="historico_de_otimizacao_G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0600" y="2849130"/>
            <a:ext cx="4682800" cy="30333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5"/>
          <p:cNvSpPr txBox="1"/>
          <p:nvPr>
            <p:ph idx="12" type="sldNum"/>
          </p:nvPr>
        </p:nvSpPr>
        <p:spPr>
          <a:xfrm>
            <a:off x="8472458" y="63700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rgbClr val="003366"/>
              </a:solidFill>
            </a:endParaRPr>
          </a:p>
        </p:txBody>
      </p:sp>
      <p:sp>
        <p:nvSpPr>
          <p:cNvPr id="323" name="Google Shape;323;p45"/>
          <p:cNvSpPr txBox="1"/>
          <p:nvPr/>
        </p:nvSpPr>
        <p:spPr>
          <a:xfrm>
            <a:off x="452275" y="273075"/>
            <a:ext cx="8213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2000"/>
              <a:buFont typeface="Calibri"/>
              <a:buChar char="●"/>
            </a:pPr>
            <a:r>
              <a:rPr lang="pt-BR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Hiperparâmetros ótimos encontrados na tentativa 37:</a:t>
            </a:r>
            <a:endParaRPr sz="2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4" name="Google Shape;324;p45"/>
          <p:cNvGraphicFramePr/>
          <p:nvPr/>
        </p:nvGraphicFramePr>
        <p:xfrm>
          <a:off x="2382788" y="765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{70034B49-D7A4-46F5-8D7C-A9EA0AFAB656}</a:tableStyleId>
              </a:tblPr>
              <a:tblGrid>
                <a:gridCol w="2096925"/>
                <a:gridCol w="20969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Hiperparâmetro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Valor otimizado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9FC5E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Níveis de Discretização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15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Limiar de corte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⋍ 0,76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/>
                        <a:t>Pseudocontagens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</a:rPr>
                        <a:t>⋍ </a:t>
                      </a:r>
                      <a:r>
                        <a:rPr lang="pt-BR"/>
                        <a:t>0,51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25" name="Google Shape;325;p45"/>
          <p:cNvSpPr txBox="1"/>
          <p:nvPr/>
        </p:nvSpPr>
        <p:spPr>
          <a:xfrm>
            <a:off x="1809913" y="2350475"/>
            <a:ext cx="54984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Tabela 10: Hiperparâmetros ótimos via GA.</a:t>
            </a:r>
            <a:endParaRPr sz="2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45"/>
          <p:cNvSpPr txBox="1"/>
          <p:nvPr/>
        </p:nvSpPr>
        <p:spPr>
          <a:xfrm>
            <a:off x="243425" y="2875175"/>
            <a:ext cx="8472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1600"/>
              </a:spcAft>
              <a:buClr>
                <a:schemeClr val="dk2"/>
              </a:buClr>
              <a:buSzPts val="2000"/>
              <a:buFont typeface="Calibri"/>
              <a:buChar char="●"/>
            </a:pPr>
            <a:r>
              <a:rPr lang="pt-BR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pt-BR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mportância relativa de cada parâmetro:</a:t>
            </a:r>
            <a:endParaRPr sz="2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7" name="Google Shape;327;p45" title="importancia_dos_hiperparametros_G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7675" y="3429950"/>
            <a:ext cx="4442890" cy="28779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5"/>
          <p:cNvSpPr txBox="1"/>
          <p:nvPr/>
        </p:nvSpPr>
        <p:spPr>
          <a:xfrm>
            <a:off x="1457376" y="6370025"/>
            <a:ext cx="6044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Figura 13</a:t>
            </a:r>
            <a:r>
              <a:rPr lang="pt-BR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: Import</a:t>
            </a:r>
            <a:r>
              <a:rPr lang="pt-BR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ância relativa dos hiperparâmetros</a:t>
            </a:r>
            <a:r>
              <a:rPr lang="pt-BR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6"/>
          <p:cNvSpPr txBox="1"/>
          <p:nvPr>
            <p:ph idx="12" type="sldNum"/>
          </p:nvPr>
        </p:nvSpPr>
        <p:spPr>
          <a:xfrm>
            <a:off x="8472458" y="63700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rgbClr val="003366"/>
              </a:solidFill>
            </a:endParaRPr>
          </a:p>
        </p:txBody>
      </p:sp>
      <p:sp>
        <p:nvSpPr>
          <p:cNvPr id="334" name="Google Shape;334;p46"/>
          <p:cNvSpPr txBox="1"/>
          <p:nvPr>
            <p:ph idx="1" type="body"/>
          </p:nvPr>
        </p:nvSpPr>
        <p:spPr>
          <a:xfrm>
            <a:off x="311700" y="1015357"/>
            <a:ext cx="8520600" cy="4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1600"/>
              </a:spcAft>
              <a:buSzPts val="2000"/>
              <a:buChar char="●"/>
            </a:pPr>
            <a:r>
              <a:rPr lang="pt-BR" sz="2000"/>
              <a:t>Analisando as métricas de desempenho do EFC GA.</a:t>
            </a:r>
            <a:endParaRPr/>
          </a:p>
        </p:txBody>
      </p:sp>
      <p:graphicFrame>
        <p:nvGraphicFramePr>
          <p:cNvPr id="335" name="Google Shape;335;p46"/>
          <p:cNvGraphicFramePr/>
          <p:nvPr/>
        </p:nvGraphicFramePr>
        <p:xfrm>
          <a:off x="952500" y="157805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{70034B49-D7A4-46F5-8D7C-A9EA0AFAB656}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Precisão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F1-score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Benign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0,97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0,95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0,96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DDoS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0,93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0,62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0,74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0,72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0,93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0,81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MQTT Attack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0,97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0,98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0,97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Reconnaissance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0,90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0.95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Spoofing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0,86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0,98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0,92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Acurácia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0,89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Média Macro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0,89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0,89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0,89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336" name="Google Shape;336;p46"/>
          <p:cNvSpPr txBox="1"/>
          <p:nvPr/>
        </p:nvSpPr>
        <p:spPr>
          <a:xfrm>
            <a:off x="1065900" y="5279938"/>
            <a:ext cx="7012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Tabela 11: Métricas de Desempenho do EFC GA.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7"/>
          <p:cNvSpPr txBox="1"/>
          <p:nvPr>
            <p:ph idx="12" type="sldNum"/>
          </p:nvPr>
        </p:nvSpPr>
        <p:spPr>
          <a:xfrm>
            <a:off x="8472458" y="63700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rgbClr val="003366"/>
              </a:solidFill>
            </a:endParaRPr>
          </a:p>
        </p:txBody>
      </p:sp>
      <p:sp>
        <p:nvSpPr>
          <p:cNvPr id="342" name="Google Shape;342;p47"/>
          <p:cNvSpPr txBox="1"/>
          <p:nvPr/>
        </p:nvSpPr>
        <p:spPr>
          <a:xfrm>
            <a:off x="2197950" y="5845325"/>
            <a:ext cx="47481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Figura 14: Matriz de Confusão do EFC GA.</a:t>
            </a:r>
            <a:endParaRPr sz="2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3" name="Google Shape;343;p47" title="Matriz de Confusão EFC G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9550" y="922075"/>
            <a:ext cx="6103201" cy="4868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8"/>
          <p:cNvSpPr txBox="1"/>
          <p:nvPr>
            <p:ph idx="12" type="sldNum"/>
          </p:nvPr>
        </p:nvSpPr>
        <p:spPr>
          <a:xfrm>
            <a:off x="8472458" y="63700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rgbClr val="003366"/>
              </a:solidFill>
            </a:endParaRPr>
          </a:p>
        </p:txBody>
      </p:sp>
      <p:sp>
        <p:nvSpPr>
          <p:cNvPr id="349" name="Google Shape;349;p48"/>
          <p:cNvSpPr txBox="1"/>
          <p:nvPr>
            <p:ph idx="1" type="body"/>
          </p:nvPr>
        </p:nvSpPr>
        <p:spPr>
          <a:xfrm>
            <a:off x="2279100" y="5753475"/>
            <a:ext cx="4585800" cy="5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1800"/>
              <a:t>Figura 15: Distribuição de Energia do EFC GA.</a:t>
            </a:r>
            <a:endParaRPr sz="1800"/>
          </a:p>
        </p:txBody>
      </p:sp>
      <p:pic>
        <p:nvPicPr>
          <p:cNvPr id="350" name="Google Shape;350;p48" title="Distribuíção de Energia EFC GA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588" y="1194750"/>
            <a:ext cx="8240825" cy="4468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9"/>
          <p:cNvSpPr txBox="1"/>
          <p:nvPr>
            <p:ph type="title"/>
          </p:nvPr>
        </p:nvSpPr>
        <p:spPr>
          <a:xfrm>
            <a:off x="311700" y="2758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/>
              <a:t>Stacking</a:t>
            </a:r>
            <a:endParaRPr sz="2000"/>
          </a:p>
        </p:txBody>
      </p:sp>
      <p:sp>
        <p:nvSpPr>
          <p:cNvPr id="356" name="Google Shape;356;p49"/>
          <p:cNvSpPr txBox="1"/>
          <p:nvPr>
            <p:ph idx="1" type="body"/>
          </p:nvPr>
        </p:nvSpPr>
        <p:spPr>
          <a:xfrm>
            <a:off x="311700" y="742874"/>
            <a:ext cx="8520600" cy="16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Junção do LightGBM e EFC - cada um gera uma predição e uma Regressão Logística analisa as predições e dá a classificação final</a:t>
            </a:r>
            <a:endParaRPr sz="1800"/>
          </a:p>
          <a:p>
            <a:pPr indent="-342900" lvl="0" marL="457200" rtl="0" algn="just">
              <a:spcBef>
                <a:spcPts val="1600"/>
              </a:spcBef>
              <a:spcAft>
                <a:spcPts val="1600"/>
              </a:spcAft>
              <a:buSzPts val="1800"/>
              <a:buChar char="●"/>
            </a:pPr>
            <a:r>
              <a:rPr lang="pt-BR" sz="1800"/>
              <a:t>Analisando as métricas de desem</a:t>
            </a:r>
            <a:r>
              <a:rPr lang="pt-BR" sz="1800"/>
              <a:t>pe</a:t>
            </a:r>
            <a:r>
              <a:rPr lang="pt-BR" sz="1800"/>
              <a:t>nho do Stacking.</a:t>
            </a:r>
            <a:endParaRPr sz="1800"/>
          </a:p>
        </p:txBody>
      </p:sp>
      <p:sp>
        <p:nvSpPr>
          <p:cNvPr id="357" name="Google Shape;357;p49"/>
          <p:cNvSpPr txBox="1"/>
          <p:nvPr>
            <p:ph idx="12" type="sldNum"/>
          </p:nvPr>
        </p:nvSpPr>
        <p:spPr>
          <a:xfrm>
            <a:off x="8472458" y="63700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rgbClr val="003366"/>
              </a:solidFill>
            </a:endParaRPr>
          </a:p>
        </p:txBody>
      </p:sp>
      <p:graphicFrame>
        <p:nvGraphicFramePr>
          <p:cNvPr id="358" name="Google Shape;358;p49"/>
          <p:cNvGraphicFramePr/>
          <p:nvPr/>
        </p:nvGraphicFramePr>
        <p:xfrm>
          <a:off x="952500" y="24150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{70034B49-D7A4-46F5-8D7C-A9EA0AFAB656}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Precisão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Recall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F1-score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Benign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0,99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1,00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DDoS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0,89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0,78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0,83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DoS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0,80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0,90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0,85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MQTT Attack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0,99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0,98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0,99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Reconnaissance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0,98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0,93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0.95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Spoofing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0,92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0,98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0,95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Acurácia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0,93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Média Macro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0,93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0,93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0,93</a:t>
                      </a:r>
                      <a:endParaRPr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  <p:sp>
        <p:nvSpPr>
          <p:cNvPr id="359" name="Google Shape;359;p49"/>
          <p:cNvSpPr txBox="1"/>
          <p:nvPr/>
        </p:nvSpPr>
        <p:spPr>
          <a:xfrm>
            <a:off x="1065900" y="6116963"/>
            <a:ext cx="7012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Tabela 12: Métricas de Desempenho do Stacking.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0"/>
          <p:cNvSpPr txBox="1"/>
          <p:nvPr>
            <p:ph idx="12" type="sldNum"/>
          </p:nvPr>
        </p:nvSpPr>
        <p:spPr>
          <a:xfrm>
            <a:off x="8472458" y="63700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rgbClr val="003366"/>
              </a:solidFill>
            </a:endParaRPr>
          </a:p>
        </p:txBody>
      </p:sp>
      <p:sp>
        <p:nvSpPr>
          <p:cNvPr id="365" name="Google Shape;365;p50"/>
          <p:cNvSpPr txBox="1"/>
          <p:nvPr/>
        </p:nvSpPr>
        <p:spPr>
          <a:xfrm>
            <a:off x="2197950" y="5845325"/>
            <a:ext cx="47481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Figura 16: Matriz de Confusão do Stacking.</a:t>
            </a:r>
            <a:endParaRPr sz="24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6" name="Google Shape;366;p50" title="Matriz de Confusão Stacki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8538" y="957988"/>
            <a:ext cx="6186924" cy="494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1"/>
          <p:cNvSpPr txBox="1"/>
          <p:nvPr>
            <p:ph idx="12" type="sldNum"/>
          </p:nvPr>
        </p:nvSpPr>
        <p:spPr>
          <a:xfrm>
            <a:off x="8472458" y="63700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rgbClr val="003366"/>
              </a:solidFill>
            </a:endParaRPr>
          </a:p>
        </p:txBody>
      </p:sp>
      <p:sp>
        <p:nvSpPr>
          <p:cNvPr id="372" name="Google Shape;372;p51"/>
          <p:cNvSpPr txBox="1"/>
          <p:nvPr>
            <p:ph type="title"/>
          </p:nvPr>
        </p:nvSpPr>
        <p:spPr>
          <a:xfrm>
            <a:off x="311700" y="3047242"/>
            <a:ext cx="8520600" cy="76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Desempenho Global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2"/>
          <p:cNvSpPr txBox="1"/>
          <p:nvPr>
            <p:ph idx="1" type="body"/>
          </p:nvPr>
        </p:nvSpPr>
        <p:spPr>
          <a:xfrm>
            <a:off x="311700" y="511982"/>
            <a:ext cx="8520600" cy="6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1600"/>
              </a:spcAft>
              <a:buSzPts val="1800"/>
              <a:buChar char="●"/>
            </a:pPr>
            <a:r>
              <a:rPr lang="pt-BR" sz="1800"/>
              <a:t>Análise</a:t>
            </a:r>
            <a:r>
              <a:rPr lang="pt-BR" sz="1800"/>
              <a:t> do Macro F1-Score ao longo de 30 sementes aleatórias.</a:t>
            </a:r>
            <a:endParaRPr/>
          </a:p>
        </p:txBody>
      </p:sp>
      <p:sp>
        <p:nvSpPr>
          <p:cNvPr id="378" name="Google Shape;378;p52"/>
          <p:cNvSpPr txBox="1"/>
          <p:nvPr>
            <p:ph idx="12" type="sldNum"/>
          </p:nvPr>
        </p:nvSpPr>
        <p:spPr>
          <a:xfrm>
            <a:off x="8472458" y="63700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rgbClr val="003366"/>
              </a:solidFill>
            </a:endParaRPr>
          </a:p>
        </p:txBody>
      </p:sp>
      <p:pic>
        <p:nvPicPr>
          <p:cNvPr id="379" name="Google Shape;379;p52" title="Desempenho Global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7325" y="1234825"/>
            <a:ext cx="7409325" cy="4956424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52"/>
          <p:cNvSpPr txBox="1"/>
          <p:nvPr>
            <p:ph idx="1" type="body"/>
          </p:nvPr>
        </p:nvSpPr>
        <p:spPr>
          <a:xfrm>
            <a:off x="1475250" y="6191250"/>
            <a:ext cx="6193500" cy="52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1800"/>
              <a:t>Figura 17: Macro F1-Score ao longo das 30 sementes aleat</a:t>
            </a:r>
            <a:r>
              <a:rPr lang="pt-BR" sz="1800"/>
              <a:t>órias</a:t>
            </a:r>
            <a:r>
              <a:rPr lang="pt-BR" sz="1800"/>
              <a:t>.</a:t>
            </a:r>
            <a:endParaRPr sz="18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Conclus</a:t>
            </a:r>
            <a:r>
              <a:rPr lang="pt-BR"/>
              <a:t>ões</a:t>
            </a:r>
            <a:endParaRPr/>
          </a:p>
        </p:txBody>
      </p:sp>
      <p:sp>
        <p:nvSpPr>
          <p:cNvPr id="386" name="Google Shape;386;p5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A distinção entre classes DoS e DDoS ainda permanece um desafio.</a:t>
            </a:r>
            <a:endParaRPr sz="1800"/>
          </a:p>
          <a:p>
            <a:pPr indent="-342900" lvl="0" marL="457200" rtl="0" algn="just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O LightGBM e o Random Forest confirmam a expectativa de elevada eficiência.</a:t>
            </a:r>
            <a:endParaRPr sz="1800"/>
          </a:p>
          <a:p>
            <a:pPr indent="-342900" lvl="0" marL="457200" rtl="0" algn="just">
              <a:spcBef>
                <a:spcPts val="1600"/>
              </a:spcBef>
              <a:spcAft>
                <a:spcPts val="1600"/>
              </a:spcAft>
              <a:buSzPts val="1800"/>
              <a:buChar char="●"/>
            </a:pPr>
            <a:r>
              <a:rPr lang="pt-BR" sz="1800"/>
              <a:t>O EFC é uma abordagem promissora para IDSs, especialmente quando associadas a mecanismos de otimização de hiperparâmetros.</a:t>
            </a:r>
            <a:endParaRPr sz="1800"/>
          </a:p>
        </p:txBody>
      </p:sp>
      <p:sp>
        <p:nvSpPr>
          <p:cNvPr id="387" name="Google Shape;387;p53"/>
          <p:cNvSpPr txBox="1"/>
          <p:nvPr>
            <p:ph idx="12" type="sldNum"/>
          </p:nvPr>
        </p:nvSpPr>
        <p:spPr>
          <a:xfrm>
            <a:off x="8472458" y="63700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rgbClr val="003366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4"/>
          <p:cNvSpPr txBox="1"/>
          <p:nvPr>
            <p:ph idx="12" type="sldNum"/>
          </p:nvPr>
        </p:nvSpPr>
        <p:spPr>
          <a:xfrm>
            <a:off x="8472458" y="63700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rgbClr val="003366"/>
              </a:solidFill>
            </a:endParaRPr>
          </a:p>
        </p:txBody>
      </p:sp>
      <p:sp>
        <p:nvSpPr>
          <p:cNvPr id="393" name="Google Shape;393;p54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Obrigado!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5"/>
          <p:cNvSpPr txBox="1"/>
          <p:nvPr>
            <p:ph type="title"/>
          </p:nvPr>
        </p:nvSpPr>
        <p:spPr>
          <a:xfrm>
            <a:off x="311700" y="1012479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/>
              <a:t>Bibliografia</a:t>
            </a:r>
            <a:endParaRPr sz="2000"/>
          </a:p>
        </p:txBody>
      </p:sp>
      <p:sp>
        <p:nvSpPr>
          <p:cNvPr id="399" name="Google Shape;399;p55"/>
          <p:cNvSpPr txBox="1"/>
          <p:nvPr>
            <p:ph idx="1" type="body"/>
          </p:nvPr>
        </p:nvSpPr>
        <p:spPr>
          <a:xfrm>
            <a:off x="311700" y="1777813"/>
            <a:ext cx="8520600" cy="40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[1] Pontes, Camila F. T., Manuela M. C. Souza, João J. C. Gondim, Matt Bishop e Marcelo A. Marotta: A new method for flow-based network intrusion detection using the inverse Potts model. IEEE Transactions on Network and Service Management, 18(2):1125–1136, 2021. viii, 2, 3, 4, 7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600"/>
              <a:t>[2] Souza, Manuela M. C.: Um novo classificador de fluxos de conjunto aberto baseado em energia para detecção de intrusão de rede, 2022. viii, 5, 7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600"/>
              <a:t>[3] Brasil: Lei geral de proteção de dados pessoais, 2018. https://www.planalto.gov. br/ccivil_03/_ato2015-2018/2018/lei/l13709.htm, acesso em 2026-05-12. 1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600"/>
              <a:t>[4] BRASIL: Ministério da ciência, tecnologia e inovações. laboratório nacional de computação científica. os quatro pilares da segurança da informação: Confidencialidade, disponibilidade, integridade e autenticidade, 2024. https://www.gov.br/ lncc/pt-br/, Acesso em: 10 mar. 2026. 1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 sz="1600"/>
              <a:t>[5] ABNT: NBR ISO/IEC 27001: Tecnologia da informação — Técnicas de segurança — Sistemas de gestão da segurança da informação — Requisitos. Associação Brasileira de Normas Técnicas, 2013. 1</a:t>
            </a:r>
            <a:endParaRPr sz="1600"/>
          </a:p>
        </p:txBody>
      </p:sp>
      <p:sp>
        <p:nvSpPr>
          <p:cNvPr id="400" name="Google Shape;400;p55"/>
          <p:cNvSpPr txBox="1"/>
          <p:nvPr>
            <p:ph idx="12" type="sldNum"/>
          </p:nvPr>
        </p:nvSpPr>
        <p:spPr>
          <a:xfrm>
            <a:off x="8472458" y="63700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rgbClr val="003366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56"/>
          <p:cNvSpPr txBox="1"/>
          <p:nvPr>
            <p:ph idx="1" type="body"/>
          </p:nvPr>
        </p:nvSpPr>
        <p:spPr>
          <a:xfrm>
            <a:off x="311700" y="204600"/>
            <a:ext cx="8520600" cy="64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/>
              <a:t>[6] CERT.br: Cartilha de segurança para internet, 2023. https://cartilha.cert.br/, acesso em 2026-05-12. 2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600"/>
              <a:t>[7] NIST: Cyber attack, 2023. https://csrc.nist.gov/glossary/term/cyber_ attack, Acesso em: 16 mar. 2026. 2, 19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600"/>
              <a:t>[8] Ke, Guolin, Qi Meng, Thomas Finley, Taifeng Wang, Wei Chen, Weidong Ma, Qiwei Ye e Tie Yan Liu: LightGBM: A highly efficient gradient boosting decision tree. Em Advances in Neural Information Processing Systems (NeurIPS), páginas 3149–3157, 2017. 2, 14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600"/>
              <a:t>[9] Breiman, Leo: Random Forests. Machine Learning, 45(1):5–32, 2001. 2, 15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600"/>
              <a:t>[10] Barbabella, Luca Delpino: Detecção de vazamentos em sistemas de distribuição de água baseado em aprendizado de máquina com EFC, 2025. 8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600"/>
              <a:t>[11] Luz, Alvaro V. C.: EFC: Um estudo de sensibilidade de hiperparâmetros, 2025. 8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600"/>
              <a:t>[12] Akiba, Takuya, Shotaro Sano, Toshihiko Yanase, Takeru Ohta e Masanori Koyama: Optuna: A next-generation hyperparameter optimization framework. Em Proceedings of the 25th ACM SIGKDD International Conference on Knowledge Discovery and Data Mining, páginas 2623–2631, 2019. 9, 30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 sz="1600"/>
              <a:t>[13] Deb, Kalyanmoy, Amrit Pratap, Sameer Agarwal e T. Meyarivan: A fast and elitist multiobjective genetic algorithm: NSGA-II. IEEE Transactions on Evolutionary Computation, 6(2):182–197, 2002. 10, 33</a:t>
            </a:r>
            <a:endParaRPr sz="1600"/>
          </a:p>
        </p:txBody>
      </p:sp>
      <p:sp>
        <p:nvSpPr>
          <p:cNvPr id="406" name="Google Shape;406;p56"/>
          <p:cNvSpPr txBox="1"/>
          <p:nvPr>
            <p:ph idx="12" type="sldNum"/>
          </p:nvPr>
        </p:nvSpPr>
        <p:spPr>
          <a:xfrm>
            <a:off x="8472458" y="63700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rgbClr val="003366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7"/>
          <p:cNvSpPr txBox="1"/>
          <p:nvPr>
            <p:ph idx="1" type="body"/>
          </p:nvPr>
        </p:nvSpPr>
        <p:spPr>
          <a:xfrm>
            <a:off x="311700" y="1151408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[14] Cardoso, Diego Antônio Barbosa e Matheus Rodrigues Guimarães: Ensemble de modelos híbridos baseados em redes neurais convolucionais e máquinas de vetores de suporte para detecção de barragens em imagens de satélite, 2022. 11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800"/>
              <a:t>[15] Wolpert, David H.: Stacked generalization. Neural Networks, 5:241–259, 1992. 12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800"/>
              <a:t>[16] Reimers, Nils e Iryna Gurevych: Reporting score distributions makes a difference: Performance study of lstm-networks for sequence tagging. Em Proceedings of the 2017 Conference on Empirical Methods in Natural Language Processing (EMNLP), páginas 338–348. Association for Computational Linguistics, 2017. 13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800"/>
              <a:t>[17] Henderson, Peter, Riashat Islam, Philip Bachman, Joelle Pineau, Doina Precup e David Meger: Deep reinforcement learning that matters. Em Proceedings of the AAAI Conference on Artificial Intelligence, volume 32, páginas 3207–3214, 2018. 14, 38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 sz="1800"/>
              <a:t>[18] Japkowicz, Nathalie e Shaju Stephen: The class imbalance problem: A systematic study. Intelligent Data Analysis, 6(5):429–449, 2002. 19</a:t>
            </a:r>
            <a:endParaRPr sz="1800"/>
          </a:p>
        </p:txBody>
      </p:sp>
      <p:sp>
        <p:nvSpPr>
          <p:cNvPr id="412" name="Google Shape;412;p57"/>
          <p:cNvSpPr txBox="1"/>
          <p:nvPr>
            <p:ph idx="12" type="sldNum"/>
          </p:nvPr>
        </p:nvSpPr>
        <p:spPr>
          <a:xfrm>
            <a:off x="8472458" y="63700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solidFill>
                <a:srgbClr val="003366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